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9728" cy="3840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7315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D9488"/>
                </a:solidFill>
                <a:latin typeface="Prompt"/>
              </a:defRPr>
            </a:pPr>
            <a:r>
              <a:t>PSHOME33 • SMART HOUSING PLATFORM</a:t>
            </a:r>
          </a:p>
          <a:p>
            <a:pPr>
              <a:defRPr sz="3600" b="1">
                <a:solidFill>
                  <a:srgbClr val="FFFFFF"/>
                </a:solidFill>
                <a:latin typeface="Prompt"/>
              </a:defRPr>
            </a:pPr>
            <a:r>
              <a:t>แนวคิดและหลักการของระบบ</a:t>
            </a:r>
          </a:p>
          <a:p>
            <a:pPr>
              <a:spcAft>
                <a:spcPts val="1800"/>
              </a:spcAft>
              <a:defRPr sz="3000" b="1">
                <a:solidFill>
                  <a:srgbClr val="93C5FD"/>
                </a:solidFill>
                <a:latin typeface="Prompt"/>
              </a:defRPr>
            </a:pPr>
            <a:r>
              <a:t>บริหารจัดการหมู่บ้านและนิติบุคคลอัจฉริยะ</a:t>
            </a:r>
          </a:p>
          <a:p>
            <a:pPr>
              <a:defRPr sz="1350">
                <a:solidFill>
                  <a:srgbClr val="CBD5E1"/>
                </a:solidFill>
                <a:latin typeface="Prompt"/>
              </a:defRPr>
            </a:pPr>
            <a:r>
              <a:t>ยกระดับความโปร่งใส ลดภาระงานเอกสาร และเชื่อมต่อลูกบ้านอย่างไร้รอยต่อผ่าน LINE Mini App</a:t>
            </a:r>
            <a:br/>
            <a:r>
              <a:t>บูรณาการระบบบัญชีคู่ (Double-Entry GL) และงานปฏิบัติการส่วนกลาง 360 องศา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1188720"/>
            <a:ext cx="265176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uksa_33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463040"/>
            <a:ext cx="1920240" cy="25481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69680" y="4114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E2E8F0"/>
                </a:solidFill>
                <a:latin typeface="Prompt"/>
              </a:defRPr>
            </a:pPr>
            <a:r>
              <a:t>นิติบุคคลหมู่บ้านจัดสรร</a:t>
            </a:r>
            <a:br/>
            <a:r>
              <a:t>พฤกษา 33 (PSHOME33)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49240"/>
            <a:ext cx="2542032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E2E8F0"/>
                </a:solidFill>
                <a:latin typeface="Prompt"/>
              </a:defRPr>
            </a:pPr>
            <a:r>
              <a:t>✓ Double-Entry GL บัญชีแยกประเภทคู่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5349240"/>
            <a:ext cx="2542032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E2E8F0"/>
                </a:solidFill>
                <a:latin typeface="Prompt"/>
              </a:defRPr>
            </a:pPr>
            <a:r>
              <a:t>✓ LINE Mini App ลูกบ้านไม่ต้องโหลดแอป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5349240"/>
            <a:ext cx="2542032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E2E8F0"/>
                </a:solidFill>
                <a:latin typeface="Prompt"/>
              </a:defRPr>
            </a:pPr>
            <a:r>
              <a:t>✓ Slip OCR ตรวจสอบสลิปอัตโนมัติ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5349240"/>
            <a:ext cx="2542032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E2E8F0"/>
                </a:solidFill>
                <a:latin typeface="Prompt"/>
              </a:defRPr>
            </a:pPr>
            <a:r>
              <a:t>✓ Real-time Financial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ompt"/>
              </a:defRPr>
            </a:pPr>
            <a:r>
              <a:t>• CONTEXT &amp; PAIN POINTS 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Prompt"/>
              </a:defRPr>
            </a:pPr>
            <a:r>
              <a:t>ปัญหาและความท้าทายในการบริหารจัดการหมู่บ้านแบบดั้งเดิม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Prompt"/>
              </a:defRPr>
            </a:pPr>
            <a:r>
              <a:t>การบริหารจัดการชุมชนและนิติบุคคลในอดีตมักเผชิญกับอุปสรรค 4 ด้านหลักที่ส่งผลต่อประสิทธิภาพและความไว้วางใจ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840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Prompt"/>
              </a:defRPr>
            </a:pPr>
            <a:r>
              <a:t>PSHOME33 SMART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Prompt"/>
              </a:defRPr>
            </a:pPr>
            <a:r>
              <a:t>PSHOME33 — ระบบบริหารจัดการหมู่บ้านและนิติบุคคลอัจฉริยะ (Pruksa 33)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Prompt"/>
              </a:defRPr>
            </a:pPr>
            <a:r>
              <a:t>02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2542032" cy="1097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20240"/>
            <a:ext cx="22677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293B"/>
                </a:solidFill>
                <a:latin typeface="Prompt"/>
              </a:defRPr>
            </a:pPr>
            <a:r>
              <a:t>1. ภาระงานเอกสาร &amp; สลิปค้างตรวจ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Prompt"/>
              </a:defRPr>
            </a:pPr>
            <a:r>
              <a:t>Paperwork Overload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• การจัดทำใบแจ้งหนี้และใบเสร็จกระดาษ เสี่ยงต่อการสูญหายและตกหล่น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• เจ้าหน้าที่ต้องตรวจสลิปโอนเงินทีละใบ เสี่ยงตรวจผิดพลาดหรือเจอสลิปปลอม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• ประวัติการชำระเงินค้นหายาก ย้อนดูข้อมูลเก่าใช้เวลานาน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69164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56432" y="1691640"/>
            <a:ext cx="2542032" cy="10972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1920240"/>
            <a:ext cx="22677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293B"/>
                </a:solidFill>
                <a:latin typeface="Prompt"/>
              </a:defRPr>
            </a:pPr>
            <a:r>
              <a:t>2. ยอดค้างชำระ &amp; ขาดการติดตาม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Prompt"/>
              </a:defRPr>
            </a:pPr>
            <a:r>
              <a:t>High Accrued Fees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• ขาดระบบแจ้งเตือนยอดค้างชำระอัตโนมัติไปยังลูกบ้านแบบตรงจุด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• ยอดหนี้ค่าส่วนกลางค้างสะสม นิติฯ ขาดรายงานตามอายุหนี้ (Aging Report)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• เกิดข้อโต้แย้งระหว่างลูกบ้านและเจ้าหน้าที่เกี่ยวกับยอดค้างที่ผ่านมา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69164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1344" y="1691640"/>
            <a:ext cx="2542032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1920240"/>
            <a:ext cx="22677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293B"/>
                </a:solidFill>
                <a:latin typeface="Prompt"/>
              </a:defRPr>
            </a:pPr>
            <a:r>
              <a:t>3. บัญชีไม่โปร่งใส &amp; รายงานล่าช้า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Prompt"/>
              </a:defRPr>
            </a:pPr>
            <a:r>
              <a:t>Financial Opacity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• รายรับ-รายจ่ายไม่ได้ลงระบบบัญชีคู่ (Double-Entry) ทำให้กระทบยอดธนาคารยาก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• กรรมการและลูกบ้านไม่สามารถตรวจสอบสถานะการเงินแบบ Real-time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• การปิดงบและสรุปบัญชีล่าช้า ขาดความคล่องตัวในการวางแผนบริหารชุมชน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169164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06256" y="1691640"/>
            <a:ext cx="2542032" cy="1097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43416" y="1920240"/>
            <a:ext cx="22677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293B"/>
                </a:solidFill>
                <a:latin typeface="Prompt"/>
              </a:defRPr>
            </a:pPr>
            <a:r>
              <a:t>4. อุปสรรคด้านการสื่อสาร &amp; การบริการ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Prompt"/>
              </a:defRPr>
            </a:pPr>
            <a:r>
              <a:t>Communication Barrier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• ลูกบ้านต้องติดต่อในเวลาทำการ หรือเดินทางมาสำนักงานนิติฯ ด้วยตนเอง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• การแจ้งซ่อม การร้องเรียน หรือการลงทะเบียนประชุมทำได้ล่าช้า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• ลูกบ้านไม่อยากดาวน์โหลดแอปใหม่ให้เปลืองพื้นที่โทรศัพท์มือถือ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ompt"/>
              </a:defRPr>
            </a:pPr>
            <a:r>
              <a:t>• CORE PHILOSOPHY 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Prompt"/>
              </a:defRPr>
            </a:pPr>
            <a:r>
              <a:t>แนวคิดหลัก 4 ประการในการออกแบบระบบ PSHOME33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Prompt"/>
              </a:defRPr>
            </a:pPr>
            <a:r>
              <a:t>เปลี่ยนระบบบริหารหมู่บ้านจากเดิมที่เป็นงาน Routine สู่แพลตฟอร์มบริหารจัดการอัจฉริยะที่ยั่งยืน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840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Prompt"/>
              </a:defRPr>
            </a:pPr>
            <a:r>
              <a:t>PSHOME33 SMART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Prompt"/>
              </a:defRPr>
            </a:pPr>
            <a:r>
              <a:t>PSHOME33 — ระบบบริหารจัดการหมู่บ้านและนิติบุคคลอัจฉริยะ (Pruksa 33)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Prompt"/>
              </a:defRPr>
            </a:pPr>
            <a:r>
              <a:t>03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109728" cy="21031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D9488"/>
                </a:solidFill>
                <a:latin typeface="Prompt"/>
              </a:defRPr>
            </a:pPr>
            <a:r>
              <a:t>1. Resident-Centric Experience</a:t>
            </a:r>
          </a:p>
          <a:p>
            <a:pPr>
              <a:spcAft>
                <a:spcPts val="600"/>
              </a:spcAft>
              <a:defRPr sz="1150" b="1">
                <a:solidFill>
                  <a:srgbClr val="1E293B"/>
                </a:solidFill>
                <a:latin typeface="Prompt"/>
              </a:defRPr>
            </a:pPr>
            <a:r>
              <a:t>ลูกบ้านเป็นศูนย์กลาง ผ่าน LINE ที่คุ้นเคย</a:t>
            </a:r>
          </a:p>
          <a:p>
            <a:pPr>
              <a:defRPr sz="1050">
                <a:solidFill>
                  <a:srgbClr val="64748B"/>
                </a:solidFill>
                <a:latin typeface="Prompt"/>
              </a:defRPr>
            </a:pPr>
            <a:r>
              <a:t>ไม่ต้องดาวน์โหลดแอปใหม่ให้ยุ่งยาก ลูกบ้านทุกคนสามารถเข้าถึงข้อมูลบ้าน เช็กยอดค้าง จ่ายเงิน แจ้งซ่อม และรับการแจ้งเตือนได้ทันทีผ่าน LINE OA / LINE Mini App (LIFF) ได้ตลอด 24 ชั่วโมง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9164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691640"/>
            <a:ext cx="109728" cy="2103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563EB"/>
                </a:solidFill>
                <a:latin typeface="Prompt"/>
              </a:defRPr>
            </a:pPr>
            <a:r>
              <a:t>2. Financial Integrity &amp; Transparency</a:t>
            </a:r>
          </a:p>
          <a:p>
            <a:pPr>
              <a:spcAft>
                <a:spcPts val="600"/>
              </a:spcAft>
              <a:defRPr sz="1150" b="1">
                <a:solidFill>
                  <a:srgbClr val="1E293B"/>
                </a:solidFill>
                <a:latin typeface="Prompt"/>
              </a:defRPr>
            </a:pPr>
            <a:r>
              <a:t>ความโปร่งใสและถูกต้องตามหลักการบัญชี</a:t>
            </a:r>
          </a:p>
          <a:p>
            <a:pPr>
              <a:defRPr sz="1050">
                <a:solidFill>
                  <a:srgbClr val="64748B"/>
                </a:solidFill>
                <a:latin typeface="Prompt"/>
              </a:defRPr>
            </a:pPr>
            <a:r>
              <a:t>ผสานระบบบัญชีคู่ (Double-Entry GL) อัตโนมัติ ทุกการรับเงิน (RV) และจ่ายเงิน (PV) จะบันทึกลงสมุดรายวันทั่วไปทันที สามารถออกงบกำไรขาดทุน งบกระแสเงินสด และรายงานกระทบยอดได้ตลอดเวลา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690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069080"/>
            <a:ext cx="109728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D97706"/>
                </a:solidFill>
                <a:latin typeface="Prompt"/>
              </a:defRPr>
            </a:pPr>
            <a:r>
              <a:t>3. Process Automation &amp; Verification</a:t>
            </a:r>
          </a:p>
          <a:p>
            <a:pPr>
              <a:spcAft>
                <a:spcPts val="600"/>
              </a:spcAft>
              <a:defRPr sz="1150" b="1">
                <a:solidFill>
                  <a:srgbClr val="1E293B"/>
                </a:solidFill>
                <a:latin typeface="Prompt"/>
              </a:defRPr>
            </a:pPr>
            <a:r>
              <a:t>ลดภาระงานคนด้วยระบบตรวจเช็กอัตโนมัติ</a:t>
            </a:r>
          </a:p>
          <a:p>
            <a:pPr>
              <a:defRPr sz="1050">
                <a:solidFill>
                  <a:srgbClr val="64748B"/>
                </a:solidFill>
                <a:latin typeface="Prompt"/>
              </a:defRPr>
            </a:pPr>
            <a:r>
              <a:t>ระบบตรวจสลิปโอนเงินด้วย OCR และ QR Code อัตโนมัติ ป้องกันสลิปปลอม/สลิปซ้ำ ออกใบเสร็จ E-Receipt PDF ส่งให้ลูกบ้านทันที พร้อมแจ้งเตือนกำหนดชำระเงินอัตโนมัติ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0690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4069080"/>
            <a:ext cx="109728" cy="21031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Prompt"/>
              </a:defRPr>
            </a:pPr>
            <a:r>
              <a:t>4. Integrated Community Governance</a:t>
            </a:r>
          </a:p>
          <a:p>
            <a:pPr>
              <a:spcAft>
                <a:spcPts val="600"/>
              </a:spcAft>
              <a:defRPr sz="1150" b="1">
                <a:solidFill>
                  <a:srgbClr val="1E293B"/>
                </a:solidFill>
                <a:latin typeface="Prompt"/>
              </a:defRPr>
            </a:pPr>
            <a:r>
              <a:t>การบริหารจัดการชุมชนครบวงจร 360 องศา</a:t>
            </a:r>
          </a:p>
          <a:p>
            <a:pPr>
              <a:defRPr sz="1050">
                <a:solidFill>
                  <a:srgbClr val="64748B"/>
                </a:solidFill>
                <a:latin typeface="Prompt"/>
              </a:defRPr>
            </a:pPr>
            <a:r>
              <a:t>ครอบคลุมมากกว่าแค่งานบัญชี: รวมถึงการจัดการผู้มาติดต่อ (Visitor), สติกเกอร์จอดรถ, ทะเบียนสัตว์เลี้ยง, การลงมติประชุมลูกบ้าน (E-Voting), คลังพัสดุ และการบริหารเงินเดือนพนักงาน (HR/Payroll)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ompt"/>
              </a:defRPr>
            </a:pPr>
            <a:r>
              <a:t>• SYSTEM ARCHITECTURE 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Prompt"/>
              </a:defRPr>
            </a:pPr>
            <a:r>
              <a:t>สถาปัตยกรรมและโครงสร้างการทำงานของระบบ (3-Tier Structure)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Prompt"/>
              </a:defRPr>
            </a:pPr>
            <a:r>
              <a:t>การเชื่อมโยงระหว่างจุดสัมผัสผู้ใช้งาน ฝั่งประมวลผลทางธุรกิจ และระบบความปลอดภัยฐานข้อมูล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840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Prompt"/>
              </a:defRPr>
            </a:pPr>
            <a:r>
              <a:t>PSHOME33 SMART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Prompt"/>
              </a:defRPr>
            </a:pPr>
            <a:r>
              <a:t>PSHOME33 — ระบบบริหารจัดการหมู่บ้านและนิติบุคคลอัจฉริยะ (Pruksa 33)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Prompt"/>
              </a:defRPr>
            </a:pPr>
            <a:r>
              <a:t>04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91640"/>
            <a:ext cx="3429000" cy="777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73736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Prompt"/>
              </a:defRPr>
            </a:pPr>
            <a:r>
              <a:t>Layer 1: Touchpoints &amp; UX (ส่วนต่อประสานผู้ใช้)</a:t>
            </a:r>
          </a:p>
          <a:p>
            <a:pPr>
              <a:defRPr sz="950">
                <a:solidFill>
                  <a:srgbClr val="E2E8F0"/>
                </a:solidFill>
                <a:latin typeface="Prompt"/>
              </a:defRPr>
            </a:pPr>
            <a:r>
              <a:t>เชื่อมต่อผู้ใช้งานทุกกลุ่มผ่านอุปกรณ์ที่เหมาะสม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60320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D9488"/>
                </a:solidFill>
                <a:latin typeface="Prompt"/>
              </a:defRPr>
            </a:pPr>
            <a:r>
              <a:t>■ Resident Portal (LINE)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LINE OA + LIFF Mini App ตรวจสอบยอด, จ่ายเงิน, ดูใบเสร็จ, แจ้งซ่อม</a:t>
            </a:r>
          </a:p>
          <a:p>
            <a:pPr>
              <a:defRPr sz="1150" b="1">
                <a:solidFill>
                  <a:srgbClr val="0D9488"/>
                </a:solidFill>
                <a:latin typeface="Prompt"/>
              </a:defRPr>
            </a:pPr>
            <a:r>
              <a:t>■ Admin &amp; Juristic Web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Web Dashboard สำหรับผู้จัดการนิติฯ, กรรมการ, บัญชี, ช่าง</a:t>
            </a:r>
          </a:p>
          <a:p>
            <a:pPr>
              <a:defRPr sz="1150" b="1">
                <a:solidFill>
                  <a:srgbClr val="0D9488"/>
                </a:solidFill>
                <a:latin typeface="Prompt"/>
              </a:defRPr>
            </a:pPr>
            <a:r>
              <a:t>■ Security &amp; Staff App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ระบบป้อม รปภ. บันทึก Visitor, พนักงานสแกนเวลาเข้า-ออกงาน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69164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1691640"/>
            <a:ext cx="342900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73736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Prompt"/>
              </a:defRPr>
            </a:pPr>
            <a:r>
              <a:t>Layer 2: Core Processing &amp; Engines (สมองกลของระบบ)</a:t>
            </a:r>
          </a:p>
          <a:p>
            <a:pPr>
              <a:defRPr sz="950">
                <a:solidFill>
                  <a:srgbClr val="E2E8F0"/>
                </a:solidFill>
                <a:latin typeface="Prompt"/>
              </a:defRPr>
            </a:pPr>
            <a:r>
              <a:t>โมดูลประมวลผลกฎเกณฑ์และการคำนวณอัตโนมัติ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560320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Prompt"/>
              </a:defRPr>
            </a:pPr>
            <a:r>
              <a:t>■ Common Fee Engine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คำนวณค่าส่วนกลางตามตารางวา, ยอดค้างชำระ, แผนผ่อนชำระ</a:t>
            </a:r>
          </a:p>
          <a:p>
            <a:pPr>
              <a:defRPr sz="1150" b="1">
                <a:solidFill>
                  <a:srgbClr val="2563EB"/>
                </a:solidFill>
                <a:latin typeface="Prompt"/>
              </a:defRPr>
            </a:pPr>
            <a:r>
              <a:t>■ GL Accounting Engine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ลงบัญชีคู่ Double-Entry (RV, PV), งบการเงิน, AR Aging</a:t>
            </a:r>
          </a:p>
          <a:p>
            <a:pPr>
              <a:defRPr sz="1150" b="1">
                <a:solidFill>
                  <a:srgbClr val="2563EB"/>
                </a:solidFill>
                <a:latin typeface="Prompt"/>
              </a:defRPr>
            </a:pPr>
            <a:r>
              <a:t>■ Smart Verification &amp; OCR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ตรวจสอบสลิปโอนเงิน PromptPay และคัดกรองข้อมูลธุรกรรม</a:t>
            </a:r>
          </a:p>
          <a:p>
            <a:pPr>
              <a:defRPr sz="1150" b="1">
                <a:solidFill>
                  <a:srgbClr val="2563EB"/>
                </a:solidFill>
                <a:latin typeface="Prompt"/>
              </a:defRPr>
            </a:pPr>
            <a:r>
              <a:t>■ Operations &amp; HR Engine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บันทึกเวลาทำงาน, ระบบเบิกจ่ายพัสดุ, คำนวณเงินเดือน Payroll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169164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1691640"/>
            <a:ext cx="34290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173736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Prompt"/>
              </a:defRPr>
            </a:pPr>
            <a:r>
              <a:t>Layer 3: Data &amp; Infrastructure (โครงสร้างพื้นฐาน)</a:t>
            </a:r>
          </a:p>
          <a:p>
            <a:pPr>
              <a:defRPr sz="950">
                <a:solidFill>
                  <a:srgbClr val="E2E8F0"/>
                </a:solidFill>
                <a:latin typeface="Prompt"/>
              </a:defRPr>
            </a:pPr>
            <a:r>
              <a:t>ความมั่นคง ความปลอดภัย และการเชื่อมต่อภายนอก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2560320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293B"/>
                </a:solidFill>
                <a:latin typeface="Prompt"/>
              </a:defRPr>
            </a:pPr>
            <a:r>
              <a:t>■ Relational Database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MySQL / PDO Transaction-Safe จัดเก็บข้อมูลบ้าน, บัญชี, สลิป</a:t>
            </a:r>
          </a:p>
          <a:p>
            <a:pPr>
              <a:defRPr sz="1150" b="1">
                <a:solidFill>
                  <a:srgbClr val="1E293B"/>
                </a:solidFill>
                <a:latin typeface="Prompt"/>
              </a:defRPr>
            </a:pPr>
            <a:r>
              <a:t>■ Document Engine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MPDF สร้าง E-Receipt, ใบแจ้งหนี้, สลิปเงินเดือน, ป้ายสติกเกอร์ PDF</a:t>
            </a:r>
          </a:p>
          <a:p>
            <a:pPr>
              <a:defRPr sz="1150" b="1">
                <a:solidFill>
                  <a:srgbClr val="1E293B"/>
                </a:solidFill>
                <a:latin typeface="Prompt"/>
              </a:defRPr>
            </a:pPr>
            <a:r>
              <a:t>■ Cloud &amp; Backup Sync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Google Drive API สำรองฐานข้อมูลอัตโนมัติ, REST API Interface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ompt"/>
              </a:defRPr>
            </a:pPr>
            <a:r>
              <a:t>• PILLAR 1: FINANCIAL CORE 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Prompt"/>
              </a:defRPr>
            </a:pPr>
            <a:r>
              <a:t>ระบบการเงินและบัญชีแยกประเภทคู่มาตรฐาน (Double-Entry GL)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Prompt"/>
              </a:defRPr>
            </a:pPr>
            <a:r>
              <a:t>ควบคุมความถูกต้องทางการเงินตั้งแต่ต้นน้ำ (รับเงิน) จนถึงปลายน้ำ (งบการเงิน)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840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Prompt"/>
              </a:defRPr>
            </a:pPr>
            <a:r>
              <a:t>PSHOME33 SMART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Prompt"/>
              </a:defRPr>
            </a:pPr>
            <a:r>
              <a:t>PSHOME33 — ระบบบริหารจัดการหมู่บ้านและนิติบุคคลอัจฉริยะ (Pruksa 33)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Prompt"/>
              </a:defRPr>
            </a:pPr>
            <a:r>
              <a:t>05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0D9488"/>
                </a:solidFill>
                <a:latin typeface="Prompt"/>
              </a:defRPr>
            </a:pPr>
            <a:r>
              <a:t>💰 ฝั่งรายรับ (Revenue &amp; Receipts)</a:t>
            </a:r>
          </a:p>
          <a:p>
            <a:pPr>
              <a:defRPr sz="1100" b="1">
                <a:solidFill>
                  <a:srgbClr val="1E293B"/>
                </a:solidFill>
                <a:latin typeface="Prompt"/>
              </a:defRPr>
            </a:pPr>
            <a:r>
              <a:t>✓ การคำนวณและตั้งหนี้อัตโนมัติ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Prompt"/>
              </a:defRPr>
            </a:pPr>
            <a:r>
              <a:t>คำนวณค่าส่วนกลางตามตารางวา หรือเรทคงที่ รองรับการผ่อนชำระ (Installment) และส่วนลด</a:t>
            </a:r>
          </a:p>
          <a:p>
            <a:pPr>
              <a:defRPr sz="1100" b="1">
                <a:solidFill>
                  <a:srgbClr val="1E293B"/>
                </a:solidFill>
                <a:latin typeface="Prompt"/>
              </a:defRPr>
            </a:pPr>
            <a:r>
              <a:t>✓ ช่องทางชำระเงินที่หลากหลาย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Prompt"/>
              </a:defRPr>
            </a:pPr>
            <a:r>
              <a:t>รองรับ PromptPay QR Code, โอนธนาคาร และเงินสด พร้อมตรวจสลิปผ่าน OCR</a:t>
            </a:r>
          </a:p>
          <a:p>
            <a:pPr>
              <a:defRPr sz="1100" b="1">
                <a:solidFill>
                  <a:srgbClr val="1E293B"/>
                </a:solidFill>
                <a:latin typeface="Prompt"/>
              </a:defRPr>
            </a:pPr>
            <a:r>
              <a:t>✓ การออกใบสำคัญรับเงิน (RV) อัตโนมัติ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Prompt"/>
              </a:defRPr>
            </a:pPr>
            <a:r>
              <a:t>เมื่ออนุมัติยอด ระบบลงบัญชีคู่ทันที: Dr. เงินสด/ธนาคาร (1101/1102) | Cr. รายได้ค่าส่วนกลาง (4101)</a:t>
            </a:r>
          </a:p>
          <a:p>
            <a:pPr>
              <a:defRPr sz="1100" b="1">
                <a:solidFill>
                  <a:srgbClr val="1E293B"/>
                </a:solidFill>
                <a:latin typeface="Prompt"/>
              </a:defRPr>
            </a:pPr>
            <a:r>
              <a:t>✓ E-Receipt PDF ทันที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Prompt"/>
              </a:defRPr>
            </a:pPr>
            <a:r>
              <a:t>สร้างใบเสร็จรับเงิน PDF ที่มี QR/ลายเซ็น พร้อมส่งให้ลูกบ้านดาวน์โหลดผ่าน 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2563EB"/>
                </a:solidFill>
                <a:latin typeface="Prompt"/>
              </a:defRPr>
            </a:pPr>
            <a:r>
              <a:t>📊 ฝั่งรายจ่ายและการรายงาน (Expenditure &amp; Reports)</a:t>
            </a:r>
          </a:p>
          <a:p>
            <a:pPr>
              <a:defRPr sz="1100" b="1">
                <a:solidFill>
                  <a:srgbClr val="1E293B"/>
                </a:solidFill>
                <a:latin typeface="Prompt"/>
              </a:defRPr>
            </a:pPr>
            <a:r>
              <a:t>✓ การควบคุมใบสำคัญจ่าย (Payment Voucher - PV)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Prompt"/>
              </a:defRPr>
            </a:pPr>
            <a:r>
              <a:t>สร้างใบสำคัญจ่าย บังคับระบุวัตถุประสงค์ (Purpose) และผู้รับเงินอย่างโปร่งใส</a:t>
            </a:r>
          </a:p>
          <a:p>
            <a:pPr>
              <a:defRPr sz="1100" b="1">
                <a:solidFill>
                  <a:srgbClr val="1E293B"/>
                </a:solidFill>
                <a:latin typeface="Prompt"/>
              </a:defRPr>
            </a:pPr>
            <a:r>
              <a:t>✓ การลงบัญชีรายจ่ายอัตโนมัติ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Prompt"/>
              </a:defRPr>
            </a:pPr>
            <a:r>
              <a:t>Dr. ค่าใช้จ่ายทั่วไป/ซ่อมบำรุง (5101) | Cr. เงินสด/เงินฝากธนาคาร (1101/1102) ป้องกันการบันทึกซ้ำซ้อน</a:t>
            </a:r>
          </a:p>
          <a:p>
            <a:pPr>
              <a:defRPr sz="1100" b="1">
                <a:solidFill>
                  <a:srgbClr val="1E293B"/>
                </a:solidFill>
                <a:latin typeface="Prompt"/>
              </a:defRPr>
            </a:pPr>
            <a:r>
              <a:t>✓ ระบบเงินสดย่อย (Petty Cash)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Prompt"/>
              </a:defRPr>
            </a:pPr>
            <a:r>
              <a:t>บันทึกและกระทบยอดเงินสดย่อยประจำวัน พร้อมรายงานกระแสเงินสด (Cash Flow)</a:t>
            </a:r>
          </a:p>
          <a:p>
            <a:pPr>
              <a:defRPr sz="1100" b="1">
                <a:solidFill>
                  <a:srgbClr val="1E293B"/>
                </a:solidFill>
                <a:latin typeface="Prompt"/>
              </a:defRPr>
            </a:pPr>
            <a:r>
              <a:t>✓ รายงานการเงินสำหรับผู้บริหาร (Executive Reports)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Prompt"/>
              </a:defRPr>
            </a:pPr>
            <a:r>
              <a:t>งบกำไรขาดทุน (P&amp;L), รายงานอายุหนี้ (AR Aging Report), งบทดลอง (Trial Balance)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ompt"/>
              </a:defRPr>
            </a:pPr>
            <a:r>
              <a:t>• PILLAR 2: RESIDENT EXPERIENCE 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Prompt"/>
              </a:defRPr>
            </a:pPr>
            <a:r>
              <a:t>Smart LINE Integration: ยกระดับการบริการลูกบ้านอย่างไร้รอยต่อ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Prompt"/>
              </a:defRPr>
            </a:pPr>
            <a:r>
              <a:t>เปลี่ยนแอป LINE ให้กลายเป็นศูนย์บริการดิจิทัลของหมู่บ้าน ใช้งานได้ทันทีไม่ต้องติดตั้งซอฟต์แวร์เพิ่ม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840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Prompt"/>
              </a:defRPr>
            </a:pPr>
            <a:r>
              <a:t>PSHOME33 SMART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Prompt"/>
              </a:defRPr>
            </a:pPr>
            <a:r>
              <a:t>PSHOME33 — ระบบบริหารจัดการหมู่บ้านและนิติบุคคลอัจฉริยะ (Pruksa 33)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Prompt"/>
              </a:defRPr>
            </a:pPr>
            <a:r>
              <a:t>06 / 12</a:t>
            </a:r>
          </a:p>
        </p:txBody>
      </p:sp>
      <p:pic>
        <p:nvPicPr>
          <p:cNvPr id="10" name="Picture 9" descr="PS33-COMMONFEE-LINEO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02920" cy="5029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169164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874519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Prompt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60320"/>
            <a:ext cx="22677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293B"/>
                </a:solidFill>
                <a:latin typeface="Prompt"/>
              </a:defRPr>
            </a:pPr>
            <a:r>
              <a:t>1. เช็กยอดค้างชำระ 24 ชม.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Prompt"/>
              </a:defRPr>
            </a:pPr>
            <a:r>
              <a:t>Self-Service Inquiry</a:t>
            </a:r>
          </a:p>
          <a:p>
            <a:pPr>
              <a:defRPr sz="1050">
                <a:solidFill>
                  <a:srgbClr val="0F172A"/>
                </a:solidFill>
                <a:latin typeface="Prompt"/>
              </a:defRPr>
            </a:pPr>
            <a:r>
              <a:t>ลูกบ้านสามารถเปิด LINE Mini App เพื่อตรวจสอบยอดค้างชำระค่าส่วนกลาง ยอดสะสม และรายละเอียดรอบบิลได้แบบเรียลไทม์ด้วยตนเองตลอด 24 ชั่วโมง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69164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39312" y="1874519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Prompt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560320"/>
            <a:ext cx="22677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293B"/>
                </a:solidFill>
                <a:latin typeface="Prompt"/>
              </a:defRPr>
            </a:pPr>
            <a:r>
              <a:t>2. ชำระเงิน &amp; ส่งสลิปง่าย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Prompt"/>
              </a:defRPr>
            </a:pPr>
            <a:r>
              <a:t>Frictionless Payment</a:t>
            </a:r>
          </a:p>
          <a:p>
            <a:pPr>
              <a:defRPr sz="1050">
                <a:solidFill>
                  <a:srgbClr val="0F172A"/>
                </a:solidFill>
                <a:latin typeface="Prompt"/>
              </a:defRPr>
            </a:pPr>
            <a:r>
              <a:t>สร้าง QR Code พร้อมเพย์ตามยอดที่ต้องชำระได้ทันที ลูกบ้านโอนแล้วแนบสลิปผ่าน LINE ระบบนำเข้าคิวตรวจสอบโดยไม่ต้องเดินทางมาที่นิติบุคคล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69164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64224" y="1874519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Prompt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560320"/>
            <a:ext cx="22677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293B"/>
                </a:solidFill>
                <a:latin typeface="Prompt"/>
              </a:defRPr>
            </a:pPr>
            <a:r>
              <a:t>3. E-Receipt ย้อนหลัง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Prompt"/>
              </a:defRPr>
            </a:pPr>
            <a:r>
              <a:t>Instant E-Receipt</a:t>
            </a:r>
          </a:p>
          <a:p>
            <a:pPr>
              <a:defRPr sz="1050">
                <a:solidFill>
                  <a:srgbClr val="0F172A"/>
                </a:solidFill>
                <a:latin typeface="Prompt"/>
              </a:defRPr>
            </a:pPr>
            <a:r>
              <a:t>เมื่อนิติบุคคลอนุมัติ ลูกบ้านจะได้รับแจ้งเตือนทันที และสามารถเปิดดูหรือดาวน์โหลดใบเสร็จรับเงินดิจิทัล (PDF) ย้อนหลังได้ทุกเมื่อ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6256" y="169164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089136" y="1874519"/>
            <a:ext cx="502920" cy="5029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Prompt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2560320"/>
            <a:ext cx="22677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293B"/>
                </a:solidFill>
                <a:latin typeface="Prompt"/>
              </a:defRPr>
            </a:pPr>
            <a:r>
              <a:t>4. แจ้งข่าวสาร &amp; แจ้งซ่อม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Prompt"/>
              </a:defRPr>
            </a:pPr>
            <a:r>
              <a:t>Community Communication</a:t>
            </a:r>
          </a:p>
          <a:p>
            <a:pPr>
              <a:defRPr sz="1050">
                <a:solidFill>
                  <a:srgbClr val="0F172A"/>
                </a:solidFill>
                <a:latin typeface="Prompt"/>
              </a:defRPr>
            </a:pPr>
            <a:r>
              <a:t>ส่งข้อความแจ้งเตือนสำคัญ ข่าวกิจกรรม นัดหมายประชุมใหญ่ลูกบ้าน พร้อมช่องทางแจ้งซ่อมพื้นที่ส่วนกลางและติดตามสถานะงานซ่อม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ompt"/>
              </a:defRPr>
            </a:pPr>
            <a:r>
              <a:t>• PILLAR 3: SECURITY &amp; OPERATIONS 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Prompt"/>
              </a:defRPr>
            </a:pPr>
            <a:r>
              <a:t>ระบบรักษาความปลอดภัย การเข้า-ออก และบริหารพัสดุส่วนกลาง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Prompt"/>
              </a:defRPr>
            </a:pPr>
            <a:r>
              <a:t>สร้างความปลอดภัยและสุขอนามัยที่ดีในชุมชนด้วยเครื่องมือดิจิทัลที่รัดกุม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840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Prompt"/>
              </a:defRPr>
            </a:pPr>
            <a:r>
              <a:t>PSHOME33 SMART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Prompt"/>
              </a:defRPr>
            </a:pPr>
            <a:r>
              <a:t>PSHOME33 — ระบบบริหารจัดการหมู่บ้านและนิติบุคคลอัจฉริยะ (Pruksa 33)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Prompt"/>
              </a:defRPr>
            </a:pPr>
            <a:r>
              <a:t>07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293B"/>
                </a:solidFill>
                <a:latin typeface="Prompt"/>
              </a:defRPr>
            </a:pPr>
            <a:r>
              <a:t>🚗 ระบบจัดการผู้มาติดต่อ (Visitor Management)</a:t>
            </a:r>
          </a:p>
          <a:p>
            <a:pPr>
              <a:spcAft>
                <a:spcPts val="600"/>
              </a:spcAft>
              <a:defRPr sz="1000">
                <a:solidFill>
                  <a:srgbClr val="2563EB"/>
                </a:solidFill>
                <a:latin typeface="Prompt"/>
              </a:defRPr>
            </a:pPr>
            <a:r>
              <a:t>บันทึกประวัติการเข้า-ออกของบุคคลภายนอกอย่างละเอียด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บันทึกทะเบียนรถ, เลขบัตรประชาชน, วัตถุประสงค์ และบ้านเป้าหมาย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ระบบพิมพ์บัตรผู้มาติดต่อ (Visitor Badge Print) รวดเร็วผ่านเครื่องพิมพ์ความร้อน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ตรวจสอบรถค้างคืน หรือบุคคลต้องสงสัยได้อย่างมีประสิทธิภาพผ่านระบบสืบค้น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293B"/>
                </a:solidFill>
                <a:latin typeface="Prompt"/>
              </a:defRPr>
            </a:pPr>
            <a:r>
              <a:t>🏷️ ระบบสติกเกอร์ยานพาหนะ (Vehicle &amp; Sticker)</a:t>
            </a:r>
          </a:p>
          <a:p>
            <a:pPr>
              <a:spcAft>
                <a:spcPts val="600"/>
              </a:spcAft>
              <a:defRPr sz="1000">
                <a:solidFill>
                  <a:srgbClr val="2563EB"/>
                </a:solidFill>
                <a:latin typeface="Prompt"/>
              </a:defRPr>
            </a:pPr>
            <a:r>
              <a:t>ควบคุมสิทธิ์การจอดรถและสัญจรภายในหมู่บ้าน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ขึ้นทะเบียนรถยนต์และรถจักรยานยนต์ของลูกบ้านแต่ละหลังอย่างเป็นระบบ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ออกและพิมพ์สติกเกอร์ติดหน้ารถ (Car Sticker PDF Generator)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ป้องกันการสวมสิทธิ์ และจำกัดจำนวนสติกเกอร์ตามสิทธิ์ของแต่ละแปลงที่ดิน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690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293B"/>
                </a:solidFill>
                <a:latin typeface="Prompt"/>
              </a:defRPr>
            </a:pPr>
            <a:r>
              <a:t>🐾 ระบบทะเบียนสัตว์เลี้ยง (Pet Registry)</a:t>
            </a:r>
          </a:p>
          <a:p>
            <a:pPr>
              <a:spcAft>
                <a:spcPts val="600"/>
              </a:spcAft>
              <a:defRPr sz="1000">
                <a:solidFill>
                  <a:srgbClr val="2563EB"/>
                </a:solidFill>
                <a:latin typeface="Prompt"/>
              </a:defRPr>
            </a:pPr>
            <a:r>
              <a:t>สร้างสิ่งแวดล้อมที่น่าอยู่และปลอดภัยร่วมกัน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ลงทะเบียนสัตว์เลี้ยง (สุนัข/แมว/อื่น ๆ) ระบุสายพันธุ์และภาพถ่าย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บันทึกประวัติการฉีดวัคซีนพิษสุนัขบ้า เพื่อสุขอนามัยส่วนรวม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ออกบัตร/สติกเกอร์สัตว์เลี้ยง ช่วยติดตามเจ้าของหากสัตว์เลี้ยงพลัดหลง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690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293B"/>
                </a:solidFill>
                <a:latin typeface="Prompt"/>
              </a:defRPr>
            </a:pPr>
            <a:r>
              <a:t>📦 คลังพัสดุและแจ้งซ่อม (Inventory &amp; Maintenance)</a:t>
            </a:r>
          </a:p>
          <a:p>
            <a:pPr>
              <a:spcAft>
                <a:spcPts val="600"/>
              </a:spcAft>
              <a:defRPr sz="1000">
                <a:solidFill>
                  <a:srgbClr val="2563EB"/>
                </a:solidFill>
                <a:latin typeface="Prompt"/>
              </a:defRPr>
            </a:pPr>
            <a:r>
              <a:t>ควบคุมอุปกรณ์ส่วนกลางและบันทึกงานซ่อมบำรุง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ระบบควบคุมสต็อกพัสดุส่วนกลาง บันทึกการรับเข้าและการเบิกจ่าย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ระบบบันทึกงานช่าง (Job Record) รับแจ้งปัญหาไฟถนน ท่อระบายน้ำ ตัดแต่งกิ่งไม้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ตรวจสอบประวัติการบำรุงรักษาทรัพย์สินส่วนกลางย้อนหลังได้อย่างแม่นยำ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ompt"/>
              </a:defRPr>
            </a:pPr>
            <a:r>
              <a:t>• PILLAR 4: DIGITAL GOVERNANCE 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Prompt"/>
              </a:defRPr>
            </a:pPr>
            <a:r>
              <a:t>ระบบการลงทะเบียนประชุมใหญ่และการลงคะแนนเสียง (E-Voting)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Prompt"/>
              </a:defRPr>
            </a:pPr>
            <a:r>
              <a:t>ส่งเสริมการมีส่วนร่วมของลูกบ้านอย่างโปร่งใส ถูกต้องตาม พ.ร.บ. จัดสรรที่ดิน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840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Prompt"/>
              </a:defRPr>
            </a:pPr>
            <a:r>
              <a:t>PSHOME33 SMART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Prompt"/>
              </a:defRPr>
            </a:pPr>
            <a:r>
              <a:t>PSHOME33 — ระบบบริหารจัดการหมู่บ้านและนิติบุคคลอัจฉริยะ (Pruksa 33)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Prompt"/>
              </a:defRPr>
            </a:pPr>
            <a:r>
              <a:t>08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3429000" cy="1097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Prompt"/>
              </a:defRPr>
            </a:pPr>
            <a:r>
              <a:t>1. การเตรียมการประชุม (Meeting Setup)</a:t>
            </a:r>
          </a:p>
          <a:p>
            <a:pPr>
              <a:spcAft>
                <a:spcPts val="1200"/>
              </a:spcAft>
              <a:defRPr sz="1000">
                <a:solidFill>
                  <a:srgbClr val="0D9488"/>
                </a:solidFill>
                <a:latin typeface="Prompt"/>
              </a:defRPr>
            </a:pPr>
            <a:r>
              <a:t>จัดการข้อมูลและวาระการประชุมล่วงหน้า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• นำเข้าและตรวจเช็กสิทธิ์ลูกบ้านตามแปลงที่ดิน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• สร้างหนังสือเชิญประชุมใหญ่สามัญ/วิสามัญประจำปี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• ระบบพิมพ์หนังสือเชิญและแบบฟอร์มมอบอำนาจแบบ PDF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• สรุปยอดผู้มีสิทธิ์ลงคะแนนเสียงตามกฎหมาย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69164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0832" y="1691640"/>
            <a:ext cx="34290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92024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Prompt"/>
              </a:defRPr>
            </a:pPr>
            <a:r>
              <a:t>2. การลงทะเบียนดิจิทัล (Smart Check-in)</a:t>
            </a:r>
          </a:p>
          <a:p>
            <a:pPr>
              <a:spcAft>
                <a:spcPts val="1200"/>
              </a:spcAft>
              <a:defRPr sz="1000">
                <a:solidFill>
                  <a:srgbClr val="2563EB"/>
                </a:solidFill>
                <a:latin typeface="Prompt"/>
              </a:defRPr>
            </a:pPr>
            <a:r>
              <a:t>ตรวจสอบสิทธิ์และนับองค์ประชุมแบบเรียลไทม์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• ลงทะเบียนรวดเร็วด้วยการสแกน QR Code หรือเลขที่บ้าน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• รองรับทั้งกรณีเจ้าของมาเอง และผู้รับมอบอำนาจ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• คำนวณองค์ประชุม (Quorum) แบบ Real-time ทันที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• ป้องกันการลงทะเบียนซ้ำซ้อนหรือใช้สิทธิ์เกิน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69164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10144" y="1691640"/>
            <a:ext cx="3429000" cy="1097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192024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Prompt"/>
              </a:defRPr>
            </a:pPr>
            <a:r>
              <a:t>3. ระบบลงคะแนนเสียง (E-Voting Engine)</a:t>
            </a:r>
          </a:p>
          <a:p>
            <a:pPr>
              <a:spcAft>
                <a:spcPts val="1200"/>
              </a:spcAft>
              <a:defRPr sz="1000">
                <a:solidFill>
                  <a:srgbClr val="4F46E5"/>
                </a:solidFill>
                <a:latin typeface="Prompt"/>
              </a:defRPr>
            </a:pPr>
            <a:r>
              <a:t>ลงคะแนนและประมวลผลมติโปร่งใส ตรวจสอบได้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• สแกนบัตรลงคะแนนดิจิทัลตามวาระการประชุม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• ประมวลผลคะแนน เห็นชอบ / ไม่เห็นชอบ / งดออกเสียง ทันที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• หน้าจอแสดงกราฟผลคะแนนสดต่อที่ประชุมใหญ่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• พิมพ์รายงานสรุปผลการลงมติแนบรายงานการประชุม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ompt"/>
              </a:defRPr>
            </a:pPr>
            <a:r>
              <a:t>• PILLAR 5: WORKFORCE &amp; PAYROLL 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Prompt"/>
              </a:defRPr>
            </a:pPr>
            <a:r>
              <a:t>ระบบบริหารงานบุคคล การลงเวลา และการจ่ายเงินเดือน (HR &amp; Payroll)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Prompt"/>
              </a:defRPr>
            </a:pPr>
            <a:r>
              <a:t>ครบวงจรในแพลตฟอร์มเดียว ไม่ต้องพึ่งพาโปรแกรม HR ภายนอก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840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Prompt"/>
              </a:defRPr>
            </a:pPr>
            <a:r>
              <a:t>PSHOME33 SMART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Prompt"/>
              </a:defRPr>
            </a:pPr>
            <a:r>
              <a:t>PSHOME33 — ระบบบริหารจัดการหมู่บ้านและนิติบุคคลอัจฉริยะ (Pruksa 33)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Prompt"/>
              </a:defRPr>
            </a:pPr>
            <a:r>
              <a:t>09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109728" cy="21031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  <a:latin typeface="Prompt"/>
              </a:defRPr>
            </a:pPr>
            <a:r>
              <a:t>⏰ การลงเวลาทำงานอัจฉริยะ (Time Attendance)</a:t>
            </a:r>
          </a:p>
          <a:p>
            <a:pPr>
              <a:defRPr sz="1050">
                <a:solidFill>
                  <a:srgbClr val="0F172A"/>
                </a:solidFill>
                <a:latin typeface="Prompt"/>
              </a:defRPr>
            </a:pPr>
            <a:r>
              <a:t>บันทึกเวลาเข้า-ออกงานของคนงาน รปภ. แม่บ้าน และช่างส่วนกลางผ่านระบบมือถือ/หน้าเว็บ พร้อมตรวจพิกัดและบันทึกเวลาจริง ป้องกันการลงเวลาแทนกัน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9164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691640"/>
            <a:ext cx="109728" cy="21031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  <a:latin typeface="Prompt"/>
              </a:defRPr>
            </a:pPr>
            <a:r>
              <a:t>📅 การจัดการวันลาและวันหยุด (Leave Management)</a:t>
            </a:r>
          </a:p>
          <a:p>
            <a:pPr>
              <a:defRPr sz="1050">
                <a:solidFill>
                  <a:srgbClr val="0F172A"/>
                </a:solidFill>
                <a:latin typeface="Prompt"/>
              </a:defRPr>
            </a:pPr>
            <a:r>
              <a:t>บันทึกวันลาป่วย ลากิจ วันหยุดประจำสัปดาห์ และวันหยุดนักขัตฤกษ์ ข้อมูลเชื่อมโยงเข้าสู่ระบบคำนวณเงินเดือนโดยอัตโนมัติ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690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069080"/>
            <a:ext cx="109728" cy="21031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  <a:latin typeface="Prompt"/>
              </a:defRPr>
            </a:pPr>
            <a:r>
              <a:t>💵 ระบบประมวลผลเงินเดือน (Payroll Engine)</a:t>
            </a:r>
          </a:p>
          <a:p>
            <a:pPr>
              <a:defRPr sz="1050">
                <a:solidFill>
                  <a:srgbClr val="0F172A"/>
                </a:solidFill>
                <a:latin typeface="Prompt"/>
              </a:defRPr>
            </a:pPr>
            <a:r>
              <a:t>คำนวณเงินเดือนรายเดือนอัตโนมัติ: เงินเดือนพื้นฐาน + เบี้ยเลี้ยง + ค่าล่วงเวลา (OT) หักวันลาเกิน/มาสาย/เงินกู้ยืม พร้อมตรวจสอบความถูกต้องก่อนอนุมัติ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0690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4069080"/>
            <a:ext cx="109728" cy="21031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  <a:latin typeface="Prompt"/>
              </a:defRPr>
            </a:pPr>
            <a:r>
              <a:t>📄 สลิปเงินเดือนดิจิทัล (Pay Slip PDF &amp; Ledger)</a:t>
            </a:r>
          </a:p>
          <a:p>
            <a:pPr>
              <a:defRPr sz="1050">
                <a:solidFill>
                  <a:srgbClr val="0F172A"/>
                </a:solidFill>
                <a:latin typeface="Prompt"/>
              </a:defRPr>
            </a:pPr>
            <a:r>
              <a:t>พิมพ์ใบจ่ายเงินเดือน (Pay Slip PDF) สวยงามเป็นมาตรฐาน และส่งยอดรวมเข้าสมุดรายวันแยกประเภท (GL) เป็นค่าใช้จ่ายเงินเดือนนิติบุคคลโดยตรง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ompt"/>
              </a:defRPr>
            </a:pPr>
            <a:r>
              <a:t>• VALUE PROPOSITION 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Prompt"/>
              </a:defRPr>
            </a:pPr>
            <a:r>
              <a:t>คุณค่าและประโยชน์ที่ได้รับจำแนกตามกลุ่มผู้มีส่วนได้ส่วนเสีย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Prompt"/>
              </a:defRPr>
            </a:pPr>
            <a:r>
              <a:t>สร้างประโยชน์ที่เป็นรูปธรรมในทุกมิติ ทั้งความสะดวก ประสิทธิภาพ และความโปร่งใส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840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Prompt"/>
              </a:defRPr>
            </a:pPr>
            <a:r>
              <a:t>PSHOME33 SMART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Prompt"/>
              </a:defRPr>
            </a:pPr>
            <a:r>
              <a:t>PSHOME33 — ระบบบริหารจัดการหมู่บ้านและนิติบุคคลอัจฉริยะ (Pruksa 33)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Prompt"/>
              </a:defRPr>
            </a:pPr>
            <a:r>
              <a:t>10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91640"/>
            <a:ext cx="3429000" cy="777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73736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Prompt"/>
              </a:defRPr>
            </a:pPr>
            <a:r>
              <a:t>👥 สำหรับลูกบ้าน (Residents)</a:t>
            </a:r>
          </a:p>
          <a:p>
            <a:pPr>
              <a:defRPr sz="950">
                <a:solidFill>
                  <a:srgbClr val="E2E8F0"/>
                </a:solidFill>
                <a:latin typeface="Prompt"/>
              </a:defRPr>
            </a:pPr>
            <a:r>
              <a:t>สะดวก รวดเร็ว และตรวจสอบได้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60320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✓ เช็กยอดค้างชำระและประวัติการชำระได้ตลอด 24 ชม.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✓ จ่ายเงินง่ายผ่านมือถือ ไม่ต้องมาสำนักงานนิติฯ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✓ ได้รับใบเสร็จ E-Receipt ทันที ไม่สูญหาย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✓ สื่อสาร แจ้งซ่อม และรับข่าวสารผ่าน LINE สะดวกสบาย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✓ มั่นใจในความปลอดภัยและสุขอนามัยในโครงการ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69164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1691640"/>
            <a:ext cx="342900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73736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Prompt"/>
              </a:defRPr>
            </a:pPr>
            <a:r>
              <a:t>🏢 สำหรับเจ้าหน้าที่นิติฯ (Juristic Staff)</a:t>
            </a:r>
          </a:p>
          <a:p>
            <a:pPr>
              <a:defRPr sz="950">
                <a:solidFill>
                  <a:srgbClr val="E2E8F0"/>
                </a:solidFill>
                <a:latin typeface="Prompt"/>
              </a:defRPr>
            </a:pPr>
            <a:r>
              <a:t>ลดงานเอกสาร ทำงานได้รวดเร็วขึ้น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560320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✓ ลดงานคีย์ข้อมูลและตัดยอดชำระเงินด้วยระบบอัตโนมัติ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✓ ตรวจสลิปโอนเงินแม่นยำ ป้องกันสลิปปลอม/สลิปซ้ำ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✓ พิมพ์เอกสาร ใบเสร็จ สติกเกอร์ สลิปเงินเดือน ในคลิกเดียว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✓ บันทึกรายรับ-รายจ่ายเชื่อมเข้าบัญชีแยกประเภททันที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✓ ออกรายงานสรุปส่งกรรมการได้ง่ายและตรงเวลา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169164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1691640"/>
            <a:ext cx="3429000" cy="7772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173736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Prompt"/>
              </a:defRPr>
            </a:pPr>
            <a:r>
              <a:t>🏛️ สำหรับกรรมการหมู่บ้าน (Committees)</a:t>
            </a:r>
          </a:p>
          <a:p>
            <a:pPr>
              <a:defRPr sz="950">
                <a:solidFill>
                  <a:srgbClr val="E2E8F0"/>
                </a:solidFill>
                <a:latin typeface="Prompt"/>
              </a:defRPr>
            </a:pPr>
            <a:r>
              <a:t>โปร่งใส ควบคุมงบประมาณได้แม่นยำ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2560320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✓ Dashboard แสดงสถานะการเงินและกระแสเงินสด Real-time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✓ ติดตามยอดลูกหนี้และประสิทธิภาพการจัดเก็บค่าส่วนกลาง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✓ มีหลักฐานการเงินและเอกสารประกอบทางบัญชีครบถ้วน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✓ ยกระดับภาพลักษณ์ของหมู่บ้านให้ทันสมัยและมีมูลค่า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Prompt"/>
              </a:defRPr>
            </a:pPr>
            <a:r>
              <a:t>✓ ลดข้อพิพาทและสร้างความไว้วางใจในชุมชน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ompt"/>
              </a:defRPr>
            </a:pPr>
            <a:r>
              <a:t>• DATA SECURITY &amp; GOVERNANCE 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Prompt"/>
              </a:defRPr>
            </a:pPr>
            <a:r>
              <a:t>ความมั่นคงปลอดภัยของข้อมูลและการกำกับดูแล (Security &amp; Compliance)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Prompt"/>
              </a:defRPr>
            </a:pPr>
            <a:r>
              <a:t>โครงสร้างระบบที่ออกแบบตามมาตรฐานความปลอดภัยและความเป็นส่วนตัวของข้อมูล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840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Prompt"/>
              </a:defRPr>
            </a:pPr>
            <a:r>
              <a:t>PSHOME33 SMART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Prompt"/>
              </a:defRPr>
            </a:pPr>
            <a:r>
              <a:t>PSHOME33 — ระบบบริหารจัดการหมู่บ้านและนิติบุคคลอัจฉริยะ (Pruksa 33)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Prompt"/>
              </a:defRPr>
            </a:pPr>
            <a:r>
              <a:t>11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109728" cy="21031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  <a:latin typeface="Prompt"/>
              </a:defRPr>
            </a:pPr>
            <a:r>
              <a:t>🔐 การควบคุมสิทธิ์ตามบทบาท (Role-Based Access Control)</a:t>
            </a:r>
          </a:p>
          <a:p>
            <a:pPr>
              <a:defRPr sz="1050">
                <a:solidFill>
                  <a:srgbClr val="0F172A"/>
                </a:solidFill>
                <a:latin typeface="Prompt"/>
              </a:defRPr>
            </a:pPr>
            <a:r>
              <a:t>แบ่งแยกหน้าที่ชัดเจน (Separation of Duties) ระหว่าง ผู้ดูแลระบบ (Admin), เจ้าหน้าที่การเงิน, เจ้าหน้าที่ธุรการ, พนักงานรักษาความปลอดภัย (Guard) และกรรมการ เพื่อป้องกันการเข้าถึงข้อมูลเกินจำเป็น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9164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691640"/>
            <a:ext cx="109728" cy="21031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  <a:latin typeface="Prompt"/>
              </a:defRPr>
            </a:pPr>
            <a:r>
              <a:t>🛡️ การป้องกันทุจริตและการปลอมแปลงสลิป (Anti-Fraud &amp; Slip Check)</a:t>
            </a:r>
          </a:p>
          <a:p>
            <a:pPr>
              <a:defRPr sz="1050">
                <a:solidFill>
                  <a:srgbClr val="0F172A"/>
                </a:solidFill>
                <a:latin typeface="Prompt"/>
              </a:defRPr>
            </a:pPr>
            <a:r>
              <a:t>กลไกตรวจสอบรหัสสลิป (Transaction Reference) และสแกน QR Code เพื่อป้องกันการนำสลิปเก่ามาใช้ซ้ำ พร้อมการอนุมัติสองขั้นตอน (Two-Step Approval) สำหรับการยืนยันยอดเงิน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690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069080"/>
            <a:ext cx="109728" cy="21031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  <a:latin typeface="Prompt"/>
              </a:defRPr>
            </a:pPr>
            <a:r>
              <a:t>☁️ การสำรองข้อมูลอัตโนมัติ (Automated Cloud Backup)</a:t>
            </a:r>
          </a:p>
          <a:p>
            <a:pPr>
              <a:defRPr sz="1050">
                <a:solidFill>
                  <a:srgbClr val="0F172A"/>
                </a:solidFill>
                <a:latin typeface="Prompt"/>
              </a:defRPr>
            </a:pPr>
            <a:r>
              <a:t>ระบบสำรองฐานข้อมูล (Cronjob Database Backup) เป็นประจำทุกวัน พร้อมส่งไฟล์สำรองขึ้น Google Drive Cloud Storage อัตโนมัติ เพื่อรองรับแผนกู้คืนระบบจากภัยพิบัติ (Disaster Recovery)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0690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4069080"/>
            <a:ext cx="109728" cy="21031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  <a:latin typeface="Prompt"/>
              </a:defRPr>
            </a:pPr>
            <a:r>
              <a:t>📜 บันทึกประวัติการทำรายการ (Audit Trail &amp; Logging)</a:t>
            </a:r>
          </a:p>
          <a:p>
            <a:pPr>
              <a:defRPr sz="1050">
                <a:solidFill>
                  <a:srgbClr val="0F172A"/>
                </a:solidFill>
                <a:latin typeface="Prompt"/>
              </a:defRPr>
            </a:pPr>
            <a:r>
              <a:t>บันทึกประวัติผู้สร้างและผู้อนุมัติเอกสารทางการเงิน (Created By / Approved By / Timestamp) เพื่อให้สามารถตรวจสอบย้อนหลัง (Audit) ได้ตามหลักธรรมาภิบาล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Prompt"/>
              </a:defRPr>
            </a:pPr>
            <a:r>
              <a:t>• CONCLUSION &amp; FUTURE ROADMAP •</a:t>
            </a:r>
          </a:p>
          <a:p>
            <a:pPr>
              <a:defRPr sz="2300" b="1">
                <a:solidFill>
                  <a:srgbClr val="FFFFFF"/>
                </a:solidFill>
                <a:latin typeface="Prompt"/>
              </a:defRPr>
            </a:pPr>
            <a:r>
              <a:t>บทสรุปและแผนการต่อยอดสู่ Smart &amp; Sustainable Community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34290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Prompt"/>
              </a:defRPr>
            </a:pPr>
            <a:r>
              <a:t>ปัจจุบัน: รากฐานที่มั่นคง</a:t>
            </a:r>
          </a:p>
          <a:p>
            <a:pPr>
              <a:spcAft>
                <a:spcPts val="1400"/>
              </a:spcAft>
              <a:defRPr sz="950">
                <a:solidFill>
                  <a:srgbClr val="94A3B8"/>
                </a:solidFill>
                <a:latin typeface="Prompt"/>
              </a:defRPr>
            </a:pPr>
            <a:r>
              <a:t>Current Foundation (Completed)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Prompt"/>
              </a:defRPr>
            </a:pPr>
            <a:r>
              <a:t>✓ ระบบบัญชีคู่ GL ถูกต้อง 100%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Prompt"/>
              </a:defRPr>
            </a:pPr>
            <a:r>
              <a:t>✓ จัดเก็บค่าส่วนกลางผ่าน LINE และ E-Receipt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Prompt"/>
              </a:defRPr>
            </a:pPr>
            <a:r>
              <a:t>✓ ระบบตรวจสลิปโอนเงิน OCR อัตโนมัติ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Prompt"/>
              </a:defRPr>
            </a:pPr>
            <a:r>
              <a:t>✓ จัดการผู้มาติดต่อ สติกเกอร์ และสัตว์เลี้ยง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Prompt"/>
              </a:defRPr>
            </a:pPr>
            <a:r>
              <a:t>✓ ประชุมลูกบ้านและลงคะแนนเสียง E-Voting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783080"/>
            <a:ext cx="34290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920240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Prompt"/>
              </a:defRPr>
            </a:pPr>
            <a:r>
              <a:t>ระยะถัดไป: เพิ่มความอัจฉริยะ</a:t>
            </a:r>
          </a:p>
          <a:p>
            <a:pPr>
              <a:spcAft>
                <a:spcPts val="1400"/>
              </a:spcAft>
              <a:defRPr sz="950">
                <a:solidFill>
                  <a:srgbClr val="94A3B8"/>
                </a:solidFill>
                <a:latin typeface="Prompt"/>
              </a:defRPr>
            </a:pPr>
            <a:r>
              <a:t>Phase 2: Smart Automation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Prompt"/>
              </a:defRPr>
            </a:pPr>
            <a:r>
              <a:t>► เชื่อมต่อระบบกล้อง LPR สแกนทะเบียนเปิดไม้กั้น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Prompt"/>
              </a:defRPr>
            </a:pPr>
            <a:r>
              <a:t>► ปรับปรุงระบบแจ้งซ่อมพร้อมอัปเดตสถานะช่าง Real-time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Prompt"/>
              </a:defRPr>
            </a:pPr>
            <a:r>
              <a:t>► ระบบจองใช้พื้นที่ส่วนกลาง (Facility Booking) ผ่าน LINE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Prompt"/>
              </a:defRPr>
            </a:pPr>
            <a:r>
              <a:t>► ระบบแบบสำรวจความพึงพอใจดิจิทัล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Prompt"/>
              </a:defRPr>
            </a:pPr>
            <a:r>
              <a:t>► ขยายผล API เชื่อมต่อระบบบัญชีภายนอก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783080"/>
            <a:ext cx="34290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93024" y="1920240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Prompt"/>
              </a:defRPr>
            </a:pPr>
            <a:r>
              <a:t>วิสัยทัศน์ระยะยาว: สังคมน่าอยู่ยั่งยืน</a:t>
            </a:r>
          </a:p>
          <a:p>
            <a:pPr>
              <a:spcAft>
                <a:spcPts val="1400"/>
              </a:spcAft>
              <a:defRPr sz="950">
                <a:solidFill>
                  <a:srgbClr val="94A3B8"/>
                </a:solidFill>
                <a:latin typeface="Prompt"/>
              </a:defRPr>
            </a:pPr>
            <a:r>
              <a:t>Phase 3: Sustainable Community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Prompt"/>
              </a:defRPr>
            </a:pPr>
            <a:r>
              <a:t>★ AI Assistant ตอบคำถามระเบียบหมู่บ้านอัตโนมัติ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Prompt"/>
              </a:defRPr>
            </a:pPr>
            <a:r>
              <a:t>★ Smart Metering เชื่อมโยงมิเตอร์น้ำ-ไฟส่วนกลาง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Prompt"/>
              </a:defRPr>
            </a:pPr>
            <a:r>
              <a:t>★ แดชบอร์ดวิเคราะห์การประหยัดพลังงานในพื้นที่ส่วนกลาง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Prompt"/>
              </a:defRPr>
            </a:pPr>
            <a:r>
              <a:t>★ ตลาดซื้อขายแลกเปลี่ยนภายในชุมชน (Community Market)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