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EC4899"/>
                </a:solidFill>
                <a:latin typeface="Sarabun"/>
              </a:defRPr>
            </a:pPr>
            <a:r>
              <a:t>SYSTEM ANALYSIS &amp; UML SPECIFICATION  •  TUTORMATCH AI</a:t>
            </a:r>
          </a:p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  <a:latin typeface="Sarabun"/>
              </a:defRPr>
            </a:pPr>
            <a:r>
              <a:t>Use Cases &amp; UML Diagrams</a:t>
            </a:r>
          </a:p>
          <a:p>
            <a:pPr>
              <a:spcAft>
                <a:spcPts val="1200"/>
              </a:spcAft>
              <a:defRPr sz="2200">
                <a:solidFill>
                  <a:srgbClr val="A78BFA"/>
                </a:solidFill>
                <a:latin typeface="Sarabun"/>
              </a:defRPr>
            </a:pPr>
            <a:r>
              <a:t>การวิเคราะห์ยูสเคสและแบบจำลองเชิงวัตถุของระบบ TutorMatch AI</a:t>
            </a:r>
          </a:p>
          <a:p>
            <a:pPr>
              <a:defRPr sz="1300">
                <a:solidFill>
                  <a:srgbClr val="CBD5E1"/>
                </a:solidFill>
                <a:latin typeface="Sarabun"/>
              </a:defRPr>
            </a:pPr>
            <a:r>
              <a:t>การออกแบบเชิงระบบมาตรฐาน UML 2.5: Actors • Use Case Diagram • Class Diagram • Sequence Diagrams • Activity Flow • State Machine • Deployment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572000"/>
            <a:ext cx="23774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F1F5F9"/>
                </a:solidFill>
                <a:latin typeface="Sarabun"/>
              </a:defRPr>
            </a:pPr>
            <a:r>
              <a:t>📊 Use Case Model</a:t>
            </a:r>
          </a:p>
          <a:p>
            <a:pPr>
              <a:defRPr sz="1000">
                <a:solidFill>
                  <a:srgbClr val="94A3B8"/>
                </a:solidFill>
                <a:latin typeface="Sarabun"/>
              </a:defRPr>
            </a:pPr>
            <a:r>
              <a:t>9 รายการ Use Cases ครบวงจรทั้ง Student, Tutor และ 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4572000"/>
            <a:ext cx="23774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F1F5F9"/>
                </a:solidFill>
                <a:latin typeface="Sarabun"/>
              </a:defRPr>
            </a:pPr>
            <a:r>
              <a:t>🏛️ Class Diagram</a:t>
            </a:r>
          </a:p>
          <a:p>
            <a:pPr>
              <a:defRPr sz="1000">
                <a:solidFill>
                  <a:srgbClr val="94A3B8"/>
                </a:solidFill>
                <a:latin typeface="Sarabun"/>
              </a:defRPr>
            </a:pPr>
            <a:r>
              <a:t>โครงสร้าง ORM Entity และความสัมพันธ์เชิงวัตถุอย่างเป็นระบบ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572000"/>
            <a:ext cx="23774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F1F5F9"/>
                </a:solidFill>
                <a:latin typeface="Sarabun"/>
              </a:defRPr>
            </a:pPr>
            <a:r>
              <a:t>⏱️ Sequence Flows</a:t>
            </a:r>
          </a:p>
          <a:p>
            <a:pPr>
              <a:defRPr sz="1000">
                <a:solidFill>
                  <a:srgbClr val="94A3B8"/>
                </a:solidFill>
                <a:latin typeface="Sarabun"/>
              </a:defRPr>
            </a:pPr>
            <a:r>
              <a:t>แผนภาพลำดับเวลาการสแกนใบหน้า จับคู่ AI และการนัดหมาย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4572000"/>
            <a:ext cx="23774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F1F5F9"/>
                </a:solidFill>
                <a:latin typeface="Sarabun"/>
              </a:defRPr>
            </a:pPr>
            <a:r>
              <a:t>📦 Deployment Topology</a:t>
            </a:r>
          </a:p>
          <a:p>
            <a:pPr>
              <a:defRPr sz="1000">
                <a:solidFill>
                  <a:srgbClr val="94A3B8"/>
                </a:solidFill>
                <a:latin typeface="Sarabun"/>
              </a:defRPr>
            </a:pPr>
            <a:r>
              <a:t>สถาปัตยกรรมการติดตั้งบน LINE LIFF, FastAPI และ Storage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3AED"/>
                </a:solidFill>
                <a:latin typeface="Sarabun"/>
              </a:defRPr>
            </a:pPr>
            <a:r>
              <a:t>1. ผู้กระทำในระบบ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arabun"/>
              </a:defRPr>
            </a:pPr>
            <a:r>
              <a:t>บทบาทและหน้าที่ของผู้กระทำ (System Actors Specification)</a:t>
            </a:r>
          </a:p>
          <a:p>
            <a:pPr>
              <a:defRPr sz="1200">
                <a:solidFill>
                  <a:srgbClr val="475569"/>
                </a:solidFill>
                <a:latin typeface="Sarabun"/>
              </a:defRPr>
            </a:pPr>
            <a:r>
              <a:t>ระบุผู้มีส่วนได้ส่วนเสีย ผู้ใช้งานตรง และระบบภายนอกที่มีปฏิสัมพันธ์กับระบบ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arabun"/>
              </a:defRPr>
            </a:pPr>
            <a:r>
              <a:t>TutorMatch AI  |  การวิเคราะห์การใช้งานและสถาปัตยกรรมเชิงวัตถุ (Use Cases &amp; UML Specification)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2889504" cy="4096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563EB"/>
                </a:solidFill>
                <a:latin typeface="Sarabun"/>
              </a:defRPr>
            </a:pPr>
            <a:r>
              <a:t>🧑‍🎓  ผู้เรียน / ผู้ปกครอง (Student)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ประเภท: </a:t>
            </a:r>
            <a:r>
              <a:t>Primary Human Actor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การเข้าถึง: </a:t>
            </a:r>
            <a:r>
              <a:t>ผ่าน LINE Official Account และ LINE LIFF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หน้าที่หลัก: </a:t>
            </a:r>
            <a:r>
              <a:t>สมัครสมาชิก, สแกนใบหน้ายืนยันตัวตนชีวมิติ, พิมพ์ค้นหาติวเตอร์ด้วยภาษาไทยอิสระ, กรองงบประมาณและวิชา, ดูผลลัพธ์คะแนน AI Match %, และส่งคำขอนัดหมายเวลาเรียน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จุดประสงค์: </a:t>
            </a:r>
            <a:r>
              <a:t>ค้นหาผู้สอนที่ตรงกับระดับความรู้ สไตล์การเรียน และงบประมาณอย่างรวดเร็วและปลอดภัย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329184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810512"/>
            <a:ext cx="2889504" cy="4096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C3AED"/>
                </a:solidFill>
                <a:latin typeface="Sarabun"/>
              </a:defRPr>
            </a:pPr>
            <a:r>
              <a:t>👨‍🏫  ผู้สอน / ติวเตอร์ (Tutor)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ประเภท: </a:t>
            </a:r>
            <a:r>
              <a:t>Primary Human Actor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การเข้าถึง: </a:t>
            </a:r>
            <a:r>
              <a:t>ผ่าน LINE LIFF บนอุปกรณ์มือถือหรือคอมพิวเตอร์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หน้าที่หลัก: </a:t>
            </a:r>
            <a:r>
              <a:t>สมัครสมาชิก, สแกนใบหน้าบันทึก Biometric Profile, กรอกประวัติการศึกษา วิชาที่สอน ความเชี่ยวชาญ สไตล์การสอน อัตราค่าบริการ ช่องทาง LINE และพิจารณาอนุมัติคำขอนัดหมาย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จุดประสงค์: </a:t>
            </a:r>
            <a:r>
              <a:t>โปรโมตโปรไฟล์ สร้างความน่าเชื่อถือ และรับนักเรียนที่ตรงกับความถนัดอย่างเป็นระบบ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291840" cy="73152"/>
          </a:xfrm>
          <a:prstGeom prst="round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810512"/>
            <a:ext cx="2889504" cy="4096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6C755"/>
                </a:solidFill>
                <a:latin typeface="Sarabun"/>
              </a:defRPr>
            </a:pPr>
            <a:r>
              <a:t>🤖  ระบบสนับสนุนและภายนอก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ผู้ดูแลระบบ (Admin): </a:t>
            </a:r>
            <a:r>
              <a:t>จัดการระบบ ตรวจสอบความถูกต้อง และรันคำสั่งจำลองบัญชีติวเตอร์ตัวอย่าง (Mock Data Seed)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AI Engine Subsystem: </a:t>
            </a:r>
            <a:r>
              <a:t>โมดูล Haar Cascade + LBPH สำหรับตรวจสอบใบหน้า และ PyThaiNLP + TF-IDF สำหรับวิเคราะห์ภาษา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LINE Platform: </a:t>
            </a:r>
            <a:r>
              <a:t>LINE Messaging API ส่งข้อความ Flex Message และ LINE LIFF ให้บริการเว็บแอปบนแชท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3AED"/>
                </a:solidFill>
                <a:latin typeface="Sarabun"/>
              </a:defRPr>
            </a:pPr>
            <a:r>
              <a:t>2. แผนภาพยูสเคส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arabun"/>
              </a:defRPr>
            </a:pPr>
            <a:r>
              <a:t>แผนภาพยูสเคสหลักของระบบ (Overall Use Case Diagram)</a:t>
            </a:r>
          </a:p>
          <a:p>
            <a:pPr>
              <a:defRPr sz="1200">
                <a:solidFill>
                  <a:srgbClr val="475569"/>
                </a:solidFill>
                <a:latin typeface="Sarabun"/>
              </a:defRPr>
            </a:pPr>
            <a:r>
              <a:t>แสดงขอบเขตของระบบ (System Boundary) ระหว่าง Actor ทั้ง 3 กลุ่ม และความสัมพันธ์กับ Use Cases ทั้ง 9 รายการ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arabun"/>
              </a:defRPr>
            </a:pPr>
            <a:r>
              <a:t>TutorMatch AI  |  การวิเคราะห์การใช้งานและสถาปัตยกรรมเชิงวัตถุ (Use Cases &amp; UML Specification)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1200"/>
              </a:spcAft>
              <a:defRPr sz="1400" b="1">
                <a:solidFill>
                  <a:srgbClr val="7C3AED"/>
                </a:solidFill>
                <a:latin typeface="Sarabun"/>
              </a:defRPr>
            </a:pPr>
            <a:r>
              <a:t>👥 ผู้กระทำ (Actors)</a:t>
            </a:r>
          </a:p>
          <a:p>
            <a:pPr>
              <a:defRPr sz="1150" b="1">
                <a:solidFill>
                  <a:srgbClr val="0F172A"/>
                </a:solidFill>
                <a:latin typeface="Sarabun"/>
              </a:defRPr>
            </a:pPr>
            <a:r>
              <a:t>🧑‍🎓 ผู้เรียน (Student)</a:t>
            </a:r>
          </a:p>
          <a:p>
            <a:pPr>
              <a:spcAft>
                <a:spcPts val="1000"/>
              </a:spcAft>
              <a:defRPr sz="950">
                <a:solidFill>
                  <a:srgbClr val="475569"/>
                </a:solidFill>
                <a:latin typeface="Sarabun"/>
              </a:defRPr>
            </a:pPr>
            <a:r>
              <a:t>ค้นหาติวเตอร์, สแกนใบหน้า, จองเวลาเรียน, แชท LINE</a:t>
            </a:r>
          </a:p>
          <a:p>
            <a:pPr>
              <a:defRPr sz="1150" b="1">
                <a:solidFill>
                  <a:srgbClr val="0F172A"/>
                </a:solidFill>
                <a:latin typeface="Sarabun"/>
              </a:defRPr>
            </a:pPr>
            <a:r>
              <a:t>👨‍🏫 ผู้สอน (Tutor)</a:t>
            </a:r>
          </a:p>
          <a:p>
            <a:pPr>
              <a:spcAft>
                <a:spcPts val="1000"/>
              </a:spcAft>
              <a:defRPr sz="950">
                <a:solidFill>
                  <a:srgbClr val="475569"/>
                </a:solidFill>
                <a:latin typeface="Sarabun"/>
              </a:defRPr>
            </a:pPr>
            <a:r>
              <a:t>จัดการโปรไฟล์, สแกนใบหน้า, อนุมัตินัดหมาย, แชท LINE</a:t>
            </a:r>
          </a:p>
          <a:p>
            <a:pPr>
              <a:defRPr sz="1150" b="1">
                <a:solidFill>
                  <a:srgbClr val="0F172A"/>
                </a:solidFill>
                <a:latin typeface="Sarabun"/>
              </a:defRPr>
            </a:pPr>
            <a:r>
              <a:t>🛡️ ผู้ดูแลระบบ (Admin)</a:t>
            </a:r>
          </a:p>
          <a:p>
            <a:pPr>
              <a:spcAft>
                <a:spcPts val="1000"/>
              </a:spcAft>
              <a:defRPr sz="950">
                <a:solidFill>
                  <a:srgbClr val="475569"/>
                </a:solidFill>
                <a:latin typeface="Sarabun"/>
              </a:defRPr>
            </a:pPr>
            <a:r>
              <a:t>ดูแลระบบ, จำลองติวเตอร์ 5 สาขา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7C3AED"/>
                </a:solidFill>
                <a:latin typeface="Sarabun"/>
              </a:defRPr>
            </a:pPr>
            <a:r>
              <a:t>🎯 ระบบหลัก: TutorMatch AI System Boundary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Sarabun"/>
              </a:defRPr>
            </a:pPr>
            <a:r>
              <a:t>• UC-01: สมัครสมาชิกและกำหนดบทบาท (Register)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Sarabun"/>
              </a:defRPr>
            </a:pPr>
            <a:r>
              <a:t>• UC-02: สแกนและลงทะเบียนใบหน้าชีวมิติ (Face Enrollment)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Sarabun"/>
              </a:defRPr>
            </a:pPr>
            <a:r>
              <a:t>• UC-03: ล็อกอินยืนยันตัวตนด้วยใบหน้า (Face Login)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Sarabun"/>
              </a:defRPr>
            </a:pPr>
            <a:r>
              <a:t>• UC-04: บันทึกข้อมูลประวัติและสไตล์การสอน (Tutor Profile)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Sarabun"/>
              </a:defRPr>
            </a:pPr>
            <a:r>
              <a:t>• UC-05: ค้นหาและจับคู่ติวเตอร์ด้วย AI (Semantic Match)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Sarabun"/>
              </a:defRPr>
            </a:pPr>
            <a:r>
              <a:t>• UC-06: จองนัดหมายเวลาเรียน (Appointment Booking)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Sarabun"/>
              </a:defRPr>
            </a:pPr>
            <a:r>
              <a:t>• UC-07: จัดการคำขอนัดหมาย อนุมัติ/ปฏิเสธ (Appointment Status)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Sarabun"/>
              </a:defRPr>
            </a:pPr>
            <a:r>
              <a:t>• UC-08: ติดต่อสื่อสารตรงผ่าน LINE Official Account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Sarabun"/>
              </a:defRPr>
            </a:pPr>
            <a:r>
              <a:t>• UC-09: จำลองข้อมูลติวเตอร์ตัวอย่าง (Mock Data Seed)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1200"/>
              </a:spcAft>
              <a:defRPr sz="1400" b="1">
                <a:solidFill>
                  <a:srgbClr val="059669"/>
                </a:solidFill>
                <a:latin typeface="Sarabun"/>
              </a:defRPr>
            </a:pPr>
            <a:r>
              <a:t>⚙️ บริการภายนอก / AI</a:t>
            </a:r>
          </a:p>
          <a:p>
            <a:pPr>
              <a:defRPr sz="1150" b="1">
                <a:solidFill>
                  <a:srgbClr val="0F172A"/>
                </a:solidFill>
                <a:latin typeface="Sarabun"/>
              </a:defRPr>
            </a:pPr>
            <a:r>
              <a:t>📸 AI Face Recognizer</a:t>
            </a:r>
          </a:p>
          <a:p>
            <a:pPr>
              <a:spcAft>
                <a:spcPts val="1000"/>
              </a:spcAft>
              <a:defRPr sz="950">
                <a:solidFill>
                  <a:srgbClr val="475569"/>
                </a:solidFill>
                <a:latin typeface="Sarabun"/>
              </a:defRPr>
            </a:pPr>
            <a:r>
              <a:t>&lt;&lt;include&gt;&gt; ใน UC-02, UC-03 ตรวจสอบพิกัดใบหน้าชีวมิติ</a:t>
            </a:r>
          </a:p>
          <a:p>
            <a:pPr>
              <a:defRPr sz="1150" b="1">
                <a:solidFill>
                  <a:srgbClr val="0F172A"/>
                </a:solidFill>
                <a:latin typeface="Sarabun"/>
              </a:defRPr>
            </a:pPr>
            <a:r>
              <a:t>🧠 AI Matching Engine</a:t>
            </a:r>
          </a:p>
          <a:p>
            <a:pPr>
              <a:spcAft>
                <a:spcPts val="1000"/>
              </a:spcAft>
              <a:defRPr sz="950">
                <a:solidFill>
                  <a:srgbClr val="475569"/>
                </a:solidFill>
                <a:latin typeface="Sarabun"/>
              </a:defRPr>
            </a:pPr>
            <a:r>
              <a:t>&lt;&lt;include&gt;&gt; ใน UC-05 ตัดคำไทยและคำนวณ TF-IDF Cosine Sim</a:t>
            </a:r>
          </a:p>
          <a:p>
            <a:pPr>
              <a:defRPr sz="1150" b="1">
                <a:solidFill>
                  <a:srgbClr val="0F172A"/>
                </a:solidFill>
                <a:latin typeface="Sarabun"/>
              </a:defRPr>
            </a:pPr>
            <a:r>
              <a:t>💬 LINE Platform</a:t>
            </a:r>
          </a:p>
          <a:p>
            <a:pPr>
              <a:spcAft>
                <a:spcPts val="1000"/>
              </a:spcAft>
              <a:defRPr sz="950">
                <a:solidFill>
                  <a:srgbClr val="475569"/>
                </a:solidFill>
                <a:latin typeface="Sarabun"/>
              </a:defRPr>
            </a:pPr>
            <a:r>
              <a:t>&lt;&lt;include&gt;&gt; ใน UC-08 ส่งข้อความ Flex Message และเปิด LIFF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3AED"/>
                </a:solidFill>
                <a:latin typeface="Sarabun"/>
              </a:defRPr>
            </a:pPr>
            <a:r>
              <a:t>3. ข้อกำหนดการใช้งาน (กลุ่มที่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arabun"/>
              </a:defRPr>
            </a:pPr>
            <a:r>
              <a:t>Use Case Specifications: การยืนยันตัวตนชีวมิติ (Auth &amp; Biometrics)</a:t>
            </a:r>
          </a:p>
          <a:p>
            <a:pPr>
              <a:defRPr sz="1200">
                <a:solidFill>
                  <a:srgbClr val="475569"/>
                </a:solidFill>
                <a:latin typeface="Sarabun"/>
              </a:defRPr>
            </a:pPr>
            <a:r>
              <a:t>ข้อกำหนดและขั้นตอนการทำงานอย่างเป็นทางการของระบบลงทะเบียนและเข้าใช้งานด้วยใบหน้า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arabun"/>
              </a:defRPr>
            </a:pPr>
            <a:r>
              <a:t>TutorMatch AI  |  การวิเคราะห์การใช้งานและสถาปัตยกรรมเชิงวัตถุ (Use Cases &amp; UML Specification)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2889504" cy="4096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563EB"/>
                </a:solidFill>
                <a:latin typeface="Sarabun"/>
              </a:defRPr>
            </a:pPr>
            <a:r>
              <a:t>📝  UC-01: สมัครสมาชิกและเลือกบทบาท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Actors: </a:t>
            </a:r>
            <a:r>
              <a:t>ผู้เรียน (Student), ติวเตอร์ (Tutor)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Pre-condition: </a:t>
            </a:r>
            <a:r>
              <a:t>ผู้ใช้เปิดหน้า LINE LIFF Portal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Main Flow: </a:t>
            </a:r>
            <a:r>
              <a:t>1. ผู้ใช้กรอก Username (อังกฤษ) และชื่อจริง
2. เลือกบทบาทเป็น 'student' หรือ 'tutor'
3. ระบบตรวจสอบความซ้ำซ้อนของชื่อผู้ใช้
4. บันทึกบัญชีใหม่ลงตาราง User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Post-condition: </a:t>
            </a:r>
            <a:r>
              <a:t>ได้ User ID ในระบบ และเข้าสู่ขั้นตอนสแกนใบหน้า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329184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810512"/>
            <a:ext cx="2889504" cy="4096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C3AED"/>
                </a:solidFill>
                <a:latin typeface="Sarabun"/>
              </a:defRPr>
            </a:pPr>
            <a:r>
              <a:t>📸  UC-02: สแกนลงทะเบียนใบหน้าชีวมิติ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Actors: </a:t>
            </a:r>
            <a:r>
              <a:t>ผู้เรียน, ติวเตอร์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Pre-condition: </a:t>
            </a:r>
            <a:r>
              <a:t>มีบัญชี User ในระบบ และอนุญาตเปิดกล้อง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Main Flow: </a:t>
            </a:r>
            <a:r>
              <a:t>1. ส่องหน้าตรงให้อยู่ในกรอบวงกลมบนหน้าจอ
2. กดปุ่ม 'บันทึกรูปเพื่อลงทะเบียนใบหน้า'
3. Haar Cascade ตรวจจับพิกัดใบหน้า
4. ตัดภาพ 150x150 Grayscale เข้ารหัส Base64
5. บันทึกเข้าตาราง BiometricProfile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Post-condition: </a:t>
            </a:r>
            <a:r>
              <a:t>เทมเพลตใบหน้าพร้อมใช้งานสำหรับล็อกอิน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291840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810512"/>
            <a:ext cx="2889504" cy="4096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59669"/>
                </a:solidFill>
                <a:latin typeface="Sarabun"/>
              </a:defRPr>
            </a:pPr>
            <a:r>
              <a:t>🔑  UC-03: ล็อกอินยืนยันตัวตนด้วยใบหน้า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Actors: </a:t>
            </a:r>
            <a:r>
              <a:t>ผู้เรียน, ติวเตอร์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Pre-condition: </a:t>
            </a:r>
            <a:r>
              <a:t>เคยลงทะเบียนใบหน้าไว้แล้วในระบบ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Main Flow: </a:t>
            </a:r>
            <a:r>
              <a:t>1. กรอก Username และเปิดกล้องเว็บแคม
2. กดปุ่ม 'สแกนและยืนยันตัวตน'
3. ดึงเทมเพลตเดิมมาเปรียบเทียบด้วย LBPH
4. คำนวณค่า Distance หาก &lt; 75.0 ถือว่าผ่าน
5. อนุญาตเข้าสู่หน้าจัดการตาม Role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Exception: </a:t>
            </a:r>
            <a:r>
              <a:t>Distance &gt;= 75.0 แจ้งเตือนใบหน้าไม่ตรงกัน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3AED"/>
                </a:solidFill>
                <a:latin typeface="Sarabun"/>
              </a:defRPr>
            </a:pPr>
            <a:r>
              <a:t>4. ข้อกำหนดการใช้งาน (กลุ่มที่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arabun"/>
              </a:defRPr>
            </a:pPr>
            <a:r>
              <a:t>Use Case Specifications: ข้อมูลติวเตอร์และการจับคู่ AI (Profile &amp; Match)</a:t>
            </a:r>
          </a:p>
          <a:p>
            <a:pPr>
              <a:defRPr sz="1200">
                <a:solidFill>
                  <a:srgbClr val="475569"/>
                </a:solidFill>
                <a:latin typeface="Sarabun"/>
              </a:defRPr>
            </a:pPr>
            <a:r>
              <a:t>ข้อกำหนดสำหรับการบันทึกโปรไฟล์ผู้สอน และระบบค้นหาจับคู่ติวเตอร์ด้วยการประมวลผลภาษาธรรมชาติ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arabun"/>
              </a:defRPr>
            </a:pPr>
            <a:r>
              <a:t>TutorMatch AI  |  การวิเคราะห์การใช้งานและสถาปัตยกรรมเชิงวัตถุ (Use Cases &amp; UML Specification)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4718304" cy="4096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4F46E5"/>
                </a:solidFill>
                <a:latin typeface="Sarabun"/>
              </a:defRPr>
            </a:pPr>
            <a:r>
              <a:t>👨‍🏫  UC-04: บันทึกประวัติและสไตล์การสอน (Manage Tutor Profile)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Actors: </a:t>
            </a:r>
            <a:r>
              <a:t>ผู้สอน / ติวเตอร์ (Tutor)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Pre-condition: </a:t>
            </a:r>
            <a:r>
              <a:t>ยืนยันตัวตนเข้าสู่ระบบในบทบาทติวเตอร์สำเร็จ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ข้อมูลที่บันทึก: </a:t>
            </a:r>
            <a:r>
              <a:t>• ประวัติการศึกษา (Education)
• รายวิชาที่เปิดสอน (Subjects คั่นด้วยจุลภาค เช่น คณิต, ฟิสิกส์)
• รายละเอียดความเชี่ยวชาญ / ประสบการณ์สอน (Expertise)
• สไตล์การสอน (Teaching Style เช่น ใจเย็น, เน้นลุยโจทย์)
• อัตราค่าบริการต่อชั่วโมง (Price per hour) และช่วงเวลาว่าง
• ช่องทางติดต่อ (LINE ID, เบอร์โทรศัพท์, อีเมล และคำแนะนำนัดหมาย)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Main Flow: </a:t>
            </a:r>
            <a:r>
              <a:t>ติวเตอร์กรอกข้อมูลครบถ้วน กดบันทึก ระบบรวมข้อความสร้าง Index Text อัปเดตลงตาราง TutorProfile พร้อมให้ AI ทำการค้นหาจับคู่ทันที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512064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810512"/>
            <a:ext cx="4718304" cy="4096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C3AED"/>
                </a:solidFill>
                <a:latin typeface="Sarabun"/>
              </a:defRPr>
            </a:pPr>
            <a:r>
              <a:t>🧠  UC-05: ค้นหาและจับคู่ติวเตอร์ด้วย AI (Semantic Tutor Match)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Actors: </a:t>
            </a:r>
            <a:r>
              <a:t>ผู้เรียน / ผู้ปกครอง (Student)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Pre-condition: </a:t>
            </a:r>
            <a:r>
              <a:t>เข้าสู่ระบบในบทบาทผู้เรียน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การรับข้อมูล: </a:t>
            </a:r>
            <a:r>
              <a:t>• ข้อความความต้องการอิสระภาษาไทย (เช่น 'อยากได้พี่ใจดี สอนฟิสิกส์ ปูพื้นฐาน')
• ตัวกรองวิชาหลักที่เจาะจง (Subject Filter) และงบประมาณสูงสุด (Budget)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ขั้นตอนประมวลผล AI: </a:t>
            </a:r>
            <a:r>
              <a:t>1. Hard Filter: คัดกรองวิชาและงบประมาณต่อชั่วโมง
2. Thai Tokenizer: ตัดคำภาษาไทยด้วย PyThaiNLP ('newmm')
3. TF-IDF &amp; Cosine Similarity: คำนวณเวกเตอร์ความคล้ายคลึงเชิงภาษา
4. Normalization: แปลงเป็นคะแนน Match Score (0 - 100%) พร้อมจัดลำดับติวเตอร์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Post-condition: </a:t>
            </a:r>
            <a:r>
              <a:t>แสดงรายการติวเตอร์ที่เหมาะสมที่สุด พร้อมประวัติและช่องทางติดต่อ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3AED"/>
                </a:solidFill>
                <a:latin typeface="Sarabun"/>
              </a:defRPr>
            </a:pPr>
            <a:r>
              <a:t>5. ข้อกำหนดการใช้งาน (กลุ่มที่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arabun"/>
              </a:defRPr>
            </a:pPr>
            <a:r>
              <a:t>Use Case Specifications: การนัดหมายและการติดต่อ (Appointment &amp; Communication)</a:t>
            </a:r>
          </a:p>
          <a:p>
            <a:pPr>
              <a:defRPr sz="1200">
                <a:solidFill>
                  <a:srgbClr val="475569"/>
                </a:solidFill>
                <a:latin typeface="Sarabun"/>
              </a:defRPr>
            </a:pPr>
            <a:r>
              <a:t>ข้อกำหนดสำหรับการจองเวลาเรียน การอนุมัตินัดหมาย และการสื่อสารตรงผ่าน LINE Official Account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arabun"/>
              </a:defRPr>
            </a:pPr>
            <a:r>
              <a:t>TutorMatch AI  |  การวิเคราะห์การใช้งานและสถาปัตยกรรมเชิงวัตถุ (Use Cases &amp; UML Specification)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2889504" cy="4096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563EB"/>
                </a:solidFill>
                <a:latin typeface="Sarabun"/>
              </a:defRPr>
            </a:pPr>
            <a:r>
              <a:t>📅  UC-06: จองนัดหมายเวลาเรียน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Actors: </a:t>
            </a:r>
            <a:r>
              <a:t>ผู้เรียน (Student)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Pre-condition: </a:t>
            </a:r>
            <a:r>
              <a:t>เลือกติวเตอร์ที่สนใจจากผลลัพธ์การจับคู่ของ AI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Main Flow: </a:t>
            </a:r>
            <a:r>
              <a:t>1. ผู้เรียนกดปุ่ม 'นัดหมายเวลาเรียน'
2. เลือกวันที่เรียน (YYYY-MM-DD)
3. ระบุช่วงเวลา (เช่น 13:00 - 15:00)
4. กรอกหัวข้อที่ต้องการเน้นเป็นพิเศษ
5. ส่งคำขอ ระบบบันทึกลงตาราง Appointment ด้วยสถานะ 'pending'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Post-condition: </a:t>
            </a:r>
            <a:r>
              <a:t>สร้างนัดหมายสำเร็จและแสดงในตารางของผู้เรียน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3291840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810512"/>
            <a:ext cx="2889504" cy="4096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59669"/>
                </a:solidFill>
                <a:latin typeface="Sarabun"/>
              </a:defRPr>
            </a:pPr>
            <a:r>
              <a:t>✅  UC-07: จัดการคำขอนัดหมาย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Actors: </a:t>
            </a:r>
            <a:r>
              <a:t>ผู้สอน / ติวเตอร์ (Tutor)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Pre-condition: </a:t>
            </a:r>
            <a:r>
              <a:t>มีคำขอนัดหมายใหม่ส่งเข้ามาในระบบ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Main Flow: </a:t>
            </a:r>
            <a:r>
              <a:t>1. ติวเตอร์ล็อกอินและดูรายการนัดหมาย
2. ตรวจสอบ วัน เวลา และหัวข้อที่นักเรียนขอ
3. กดปุ่ม 'อนุมัติ (Approved)' หรือ 'ปฏิเสธ (Declined)'
4. ระบบอัปเดตสถานะในฐานข้อมูลแบบ Real-time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Post-condition: </a:t>
            </a:r>
            <a:r>
              <a:t>สถานะในแดชบอร์ดของผู้เรียนและผู้สอนเปลี่ยนเป็น Approved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291840" cy="73152"/>
          </a:xfrm>
          <a:prstGeom prst="round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810512"/>
            <a:ext cx="2889504" cy="4096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6C755"/>
                </a:solidFill>
                <a:latin typeface="Sarabun"/>
              </a:defRPr>
            </a:pPr>
            <a:r>
              <a:t>💬  UC-08: สื่อสารผ่าน LINE OA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Actors: </a:t>
            </a:r>
            <a:r>
              <a:t>ผู้เรียน, ติวเตอร์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Pre-condition: </a:t>
            </a:r>
            <a:r>
              <a:t>พบติวเตอร์ที่ถูกใจในระบบ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Main Flow: </a:t>
            </a:r>
            <a:r>
              <a:t>1. ผู้เรียนกดปุ่ม 'ทักทาง LINE OA'
2. ระบบเปิด Deep Link ไปยังหน้าแชท LINE ติวเตอร์ทันที
3. ผู้เรียนสอบถามรายละเอียดเพิ่มเติม
4. ติวเตอร์ส่งตัวอย่างเอกสารการสอน แผนการเรียน หรือพิกัดสถานที่เรียนได้โดยตรง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ประโยชน์: </a:t>
            </a:r>
            <a:r>
              <a:t>สะดวกรวดเร็ว สอดคล้องกับพฤติกรรมคนไทย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3AED"/>
                </a:solidFill>
                <a:latin typeface="Sarabun"/>
              </a:defRPr>
            </a:pPr>
            <a:r>
              <a:t>6. แผนภาพคลาส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arabun"/>
              </a:defRPr>
            </a:pPr>
            <a:r>
              <a:t>แผนภาพคลาสเชิงโดเมนและสถาปัตยกรรมระบบ (Domain Class Diagram)</a:t>
            </a:r>
          </a:p>
          <a:p>
            <a:pPr>
              <a:defRPr sz="1200">
                <a:solidFill>
                  <a:srgbClr val="475569"/>
                </a:solidFill>
                <a:latin typeface="Sarabun"/>
              </a:defRPr>
            </a:pPr>
            <a:r>
              <a:t>โครงสร้างคลาสข้อมูล (ORM Entities), เมธอด และความสัมพันธ์เชิงสถาปัตยกรรม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arabun"/>
              </a:defRPr>
            </a:pPr>
            <a:r>
              <a:t>TutorMatch AI  |  การวิเคราะห์การใช้งานและสถาปัตยกรรมเชิงวัตถุ (Use Cases &amp; UML Specification)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4688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 lIns="109728" rIns="109728"/>
          <a:lstStyle/>
          <a:p>
            <a:pPr algn="ctr"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+id: Integer </a:t>
            </a:r>
            <a:r>
              <a:rPr sz="850">
                <a:solidFill>
                  <a:srgbClr val="475569"/>
                </a:solidFill>
              </a:rPr>
              <a:t>(Primary Key)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+username: String </a:t>
            </a:r>
            <a:r>
              <a:rPr sz="850">
                <a:solidFill>
                  <a:srgbClr val="475569"/>
                </a:solidFill>
              </a:rPr>
              <a:t>(Unique Index)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+name: String </a:t>
            </a:r>
            <a:r>
              <a:rPr sz="850">
                <a:solidFill>
                  <a:srgbClr val="475569"/>
                </a:solidFill>
              </a:rPr>
              <a:t>(ชื่อ-นามสกุลจริง)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+role: String </a:t>
            </a:r>
            <a:r>
              <a:rPr sz="850">
                <a:solidFill>
                  <a:srgbClr val="475569"/>
                </a:solidFill>
              </a:rPr>
              <a:t>('student' / 'tutor')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+line_id: String </a:t>
            </a:r>
            <a:r>
              <a:rPr sz="850">
                <a:solidFill>
                  <a:srgbClr val="475569"/>
                </a:solidFill>
              </a:rPr>
              <a:t>(LINE User ID)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+registered_at </a:t>
            </a:r>
            <a:r>
              <a:rPr sz="850">
                <a:solidFill>
                  <a:srgbClr val="475569"/>
                </a:solidFill>
              </a:rPr>
              <a:t>(DateTime)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46888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arabun"/>
              </a:defRPr>
            </a:pPr>
            <a:r>
              <a:t>👤 User (เอนทิตีผู้ใช้หลัก)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4688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 lIns="109728" rIns="109728"/>
          <a:lstStyle/>
          <a:p>
            <a:pPr algn="ctr"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+id: Integer </a:t>
            </a:r>
            <a:r>
              <a:rPr sz="850">
                <a:solidFill>
                  <a:srgbClr val="475569"/>
                </a:solidFill>
              </a:rPr>
              <a:t>(Primary Key)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+user_id: Integer </a:t>
            </a:r>
            <a:r>
              <a:rPr sz="850">
                <a:solidFill>
                  <a:srgbClr val="475569"/>
                </a:solidFill>
              </a:rPr>
              <a:t>(FK: users.id (1-to-1))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+face_landmarks: Text </a:t>
            </a:r>
            <a:r>
              <a:rPr sz="850">
                <a:solidFill>
                  <a:srgbClr val="475569"/>
                </a:solidFill>
              </a:rPr>
              <a:t>(Base64 Grayscale Crop)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+updated_at </a:t>
            </a:r>
            <a:r>
              <a:rPr sz="850">
                <a:solidFill>
                  <a:srgbClr val="475569"/>
                </a:solidFill>
              </a:rPr>
              <a:t>(DateTime)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• ความสัมพันธ์ </a:t>
            </a:r>
            <a:r>
              <a:rPr sz="850">
                <a:solidFill>
                  <a:srgbClr val="475569"/>
                </a:solidFill>
              </a:rPr>
              <a:t>(One-to-One Cascade กับ User)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• ฟังก์ชัน </a:t>
            </a:r>
            <a:r>
              <a:rPr sz="850">
                <a:solidFill>
                  <a:srgbClr val="475569"/>
                </a:solidFill>
              </a:rPr>
              <a:t>(เปรียบเทียบพิกัด LBPH)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45920"/>
            <a:ext cx="246888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arabun"/>
              </a:defRPr>
            </a:pPr>
            <a:r>
              <a:t>🔒 BiometricProfile (ข้อมูลใบหน้า)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4688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 lIns="109728" rIns="109728"/>
          <a:lstStyle/>
          <a:p>
            <a:pPr algn="ctr"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+id: Integer </a:t>
            </a:r>
            <a:r>
              <a:rPr sz="850">
                <a:solidFill>
                  <a:srgbClr val="475569"/>
                </a:solidFill>
              </a:rPr>
              <a:t>(Primary Key)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+user_id: Integer </a:t>
            </a:r>
            <a:r>
              <a:rPr sz="850">
                <a:solidFill>
                  <a:srgbClr val="475569"/>
                </a:solidFill>
              </a:rPr>
              <a:t>(FK: users.id (1-to-1))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+subjects, expertise </a:t>
            </a:r>
            <a:r>
              <a:rPr sz="850">
                <a:solidFill>
                  <a:srgbClr val="475569"/>
                </a:solidFill>
              </a:rPr>
              <a:t>(Text ข้อมูลการสอน)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+teaching_style </a:t>
            </a:r>
            <a:r>
              <a:rPr sz="850">
                <a:solidFill>
                  <a:srgbClr val="475569"/>
                </a:solidFill>
              </a:rPr>
              <a:t>(สไตล์การสอน)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+price_per_hour </a:t>
            </a:r>
            <a:r>
              <a:rPr sz="850">
                <a:solidFill>
                  <a:srgbClr val="475569"/>
                </a:solidFill>
              </a:rPr>
              <a:t>(เรทราคาต่อชั่วโมง)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+contact_line, phone </a:t>
            </a:r>
            <a:r>
              <a:rPr sz="850">
                <a:solidFill>
                  <a:srgbClr val="475569"/>
                </a:solidFill>
              </a:rPr>
              <a:t>(ช่องทางติดต่อ)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468880" cy="5029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arabun"/>
              </a:defRPr>
            </a:pPr>
            <a:r>
              <a:t>👨‍🏫 TutorProfile (ข้อมูลผู้สอน)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645920"/>
            <a:ext cx="24688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 lIns="109728" rIns="109728"/>
          <a:lstStyle/>
          <a:p>
            <a:pPr algn="ctr"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+id: Integer </a:t>
            </a:r>
            <a:r>
              <a:rPr sz="850">
                <a:solidFill>
                  <a:srgbClr val="475569"/>
                </a:solidFill>
              </a:rPr>
              <a:t>(Primary Key)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+student_id: Integer </a:t>
            </a:r>
            <a:r>
              <a:rPr sz="850">
                <a:solidFill>
                  <a:srgbClr val="475569"/>
                </a:solidFill>
              </a:rPr>
              <a:t>(FK: users.id)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+tutor_id: Integer </a:t>
            </a:r>
            <a:r>
              <a:rPr sz="850">
                <a:solidFill>
                  <a:srgbClr val="475569"/>
                </a:solidFill>
              </a:rPr>
              <a:t>(FK: users.id)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+appointment_date </a:t>
            </a:r>
            <a:r>
              <a:rPr sz="850">
                <a:solidFill>
                  <a:srgbClr val="475569"/>
                </a:solidFill>
              </a:rPr>
              <a:t>(String: YYYY-MM-DD)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+appointment_time </a:t>
            </a:r>
            <a:r>
              <a:rPr sz="850">
                <a:solidFill>
                  <a:srgbClr val="475569"/>
                </a:solidFill>
              </a:rPr>
              <a:t>(String: ช่วงเวลา)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+status: String </a:t>
            </a:r>
            <a:r>
              <a:rPr sz="850">
                <a:solidFill>
                  <a:srgbClr val="475569"/>
                </a:solidFill>
              </a:rPr>
              <a:t>('pending'/'approved')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45920"/>
            <a:ext cx="246888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arabun"/>
              </a:defRPr>
            </a:pPr>
            <a:r>
              <a:t>📅 Appointment (ข้อมูลนัดหมาย)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200"/>
              </a:spcAft>
              <a:defRPr sz="1200" b="1">
                <a:solidFill>
                  <a:srgbClr val="7C3AED"/>
                </a:solidFill>
                <a:latin typeface="Sarabun"/>
              </a:defRPr>
            </a:pPr>
            <a:r>
              <a:t>⚡ คลาสบริการระดับระบบ (Service &amp; Controller Classes):</a:t>
            </a:r>
          </a:p>
          <a:p>
            <a:pPr>
              <a:defRPr sz="1000">
                <a:solidFill>
                  <a:srgbClr val="0F172A"/>
                </a:solidFill>
                <a:latin typeface="Sarabun"/>
              </a:defRPr>
            </a:pPr>
            <a:r>
              <a:t>• AIEngine: extract_face_landmarks(), verify_faces(), compute_tf(), compute_idf(), calculate_cosine_similarity(), match_tutors()</a:t>
            </a:r>
            <a:br/>
            <a:r>
              <a:t>• FastAPIController: register_user(), register_face(), verify_face(), update_tutor_profile(), match_tutors_api(), create_appointment()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3AED"/>
                </a:solidFill>
                <a:latin typeface="Sarabun"/>
              </a:defRPr>
            </a:pPr>
            <a:r>
              <a:t>7. แผนภาพลำดับการทำงาน 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arabun"/>
              </a:defRPr>
            </a:pPr>
            <a:r>
              <a:t>Sequence Diagram: การยืนยันตัวตนด้วยใบหน้า (Biometric Face Login)</a:t>
            </a:r>
          </a:p>
          <a:p>
            <a:pPr>
              <a:defRPr sz="1200">
                <a:solidFill>
                  <a:srgbClr val="475569"/>
                </a:solidFill>
                <a:latin typeface="Sarabun"/>
              </a:defRPr>
            </a:pPr>
            <a:r>
              <a:t>ขั้นตอนการส่งและเปรียบเทียบข้อมูลภาพถ่ายจากหน้าจอผู้ใช้ ผ่าน API สู่โมเดล LBPH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arabun"/>
              </a:defRPr>
            </a:pPr>
            <a:r>
              <a:t>TutorMatch AI  |  การวิเคราะห์การใช้งานและสถาปัตยกรรมเชิงวัตถุ (Use Cases &amp; UML Specification)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28016" rIns="128016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  <a:latin typeface="Sarabun"/>
              </a:defRPr>
            </a:pPr>
            <a:r>
              <a:t>1. ส่องกล้องเว็บแคม</a:t>
            </a:r>
          </a:p>
          <a:p>
            <a:pPr>
              <a:spcAft>
                <a:spcPts val="800"/>
              </a:spcAft>
              <a:defRPr sz="950">
                <a:solidFill>
                  <a:srgbClr val="2563EB"/>
                </a:solidFill>
                <a:latin typeface="Sarabun"/>
              </a:defRPr>
            </a:pPr>
            <a:r>
              <a:t>[User ➔ LIFF UI]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ผู้ใช้เปิดหน้าเว็บ LIFF เปิดกล้องและกรอก Username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96596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arabun"/>
              </a:defRPr>
            </a:pPr>
            <a:r>
              <a:t>STEP 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28016" rIns="128016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  <a:latin typeface="Sarabun"/>
              </a:defRPr>
            </a:pPr>
            <a:r>
              <a:t>2. ส่งภาพถ่ายปัจจุบัน</a:t>
            </a:r>
          </a:p>
          <a:p>
            <a:pPr>
              <a:spcAft>
                <a:spcPts val="800"/>
              </a:spcAft>
              <a:defRPr sz="950">
                <a:solidFill>
                  <a:srgbClr val="7C3AED"/>
                </a:solidFill>
                <a:latin typeface="Sarabun"/>
              </a:defRPr>
            </a:pPr>
            <a:r>
              <a:t>[LIFF ➔ FastAPI API]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กดปุ่มสแกน ส่งภาพ Base64 ไปยัง POST /api/biometrics/verify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2072" y="1645920"/>
            <a:ext cx="196596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arabun"/>
              </a:defRPr>
            </a:pPr>
            <a:r>
              <a:t>STEP 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92624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28016" rIns="128016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  <a:latin typeface="Sarabun"/>
              </a:defRPr>
            </a:pPr>
            <a:r>
              <a:t>3. ดึงเทมเพลตใบหน้าเดิม</a:t>
            </a:r>
          </a:p>
          <a:p>
            <a:pPr>
              <a:spcAft>
                <a:spcPts val="800"/>
              </a:spcAft>
              <a:defRPr sz="950">
                <a:solidFill>
                  <a:srgbClr val="4F46E5"/>
                </a:solidFill>
                <a:latin typeface="Sarabun"/>
              </a:defRPr>
            </a:pPr>
            <a:r>
              <a:t>[FastAPI ➔ Database]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Query ตาราง User &amp; BiometricProfile ดึงเทมเพลตเดิม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92624" y="1645920"/>
            <a:ext cx="1965960" cy="5029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arabun"/>
              </a:defRPr>
            </a:pPr>
            <a:r>
              <a:t>STEP 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23176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28016" rIns="128016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  <a:latin typeface="Sarabun"/>
              </a:defRPr>
            </a:pPr>
            <a:r>
              <a:t>4. คำนวณความต่าง LBPH</a:t>
            </a:r>
          </a:p>
          <a:p>
            <a:pPr>
              <a:spcAft>
                <a:spcPts val="800"/>
              </a:spcAft>
              <a:defRPr sz="950">
                <a:solidFill>
                  <a:srgbClr val="D97706"/>
                </a:solidFill>
                <a:latin typeface="Sarabun"/>
              </a:defRPr>
            </a:pPr>
            <a:r>
              <a:t>[FastAPI ➔ AI Engine]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Haar Cascade ตรวจจับใบหน้า และสกัด Local Binary Patterns คำนวณ Distance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23176" y="1645920"/>
            <a:ext cx="196596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arabun"/>
              </a:defRPr>
            </a:pPr>
            <a:r>
              <a:t>STEP 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53728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28016" rIns="128016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  <a:latin typeface="Sarabun"/>
              </a:defRPr>
            </a:pPr>
            <a:r>
              <a:t>5. ตรวจสอบ Distance Threshold</a:t>
            </a:r>
          </a:p>
          <a:p>
            <a:pPr>
              <a:spcAft>
                <a:spcPts val="800"/>
              </a:spcAft>
              <a:defRPr sz="950">
                <a:solidFill>
                  <a:srgbClr val="059669"/>
                </a:solidFill>
                <a:latin typeface="Sarabun"/>
              </a:defRPr>
            </a:pPr>
            <a:r>
              <a:t>[AI Engine ➔ User]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หาก Distance &lt; 75.0 ถือว่าผ่าน อนุมัติการเข้าสู่ระบบและสร้าง Session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53728" y="1645920"/>
            <a:ext cx="196596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arabun"/>
              </a:defRPr>
            </a:pPr>
            <a:r>
              <a:t>STEP 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3AED"/>
                </a:solidFill>
                <a:latin typeface="Sarabun"/>
              </a:defRPr>
            </a:pPr>
            <a:r>
              <a:t>8. แผนภาพลำดับการทำงาน 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arabun"/>
              </a:defRPr>
            </a:pPr>
            <a:r>
              <a:t>Sequence Diagram: การค้นหาและจับคู่ติวเตอร์ด้วย AI (Tutor Matching)</a:t>
            </a:r>
          </a:p>
          <a:p>
            <a:pPr>
              <a:defRPr sz="1200">
                <a:solidFill>
                  <a:srgbClr val="475569"/>
                </a:solidFill>
                <a:latin typeface="Sarabun"/>
              </a:defRPr>
            </a:pPr>
            <a:r>
              <a:t>ขั้นตอนการส่งข้อความภาษาไทยอิสระ การตัดคำ และการคำนวณเวกเตอร์ความคล้ายคลึง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arabun"/>
              </a:defRPr>
            </a:pPr>
            <a:r>
              <a:t>TutorMatch AI  |  การวิเคราะห์การใช้งานและสถาปัตยกรรมเชิงวัตถุ (Use Cases &amp; UML Specification)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28016" rIns="128016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  <a:latin typeface="Sarabun"/>
              </a:defRPr>
            </a:pPr>
            <a:r>
              <a:t>1. ป้อนความต้องการ</a:t>
            </a:r>
          </a:p>
          <a:p>
            <a:pPr>
              <a:spcAft>
                <a:spcPts val="800"/>
              </a:spcAft>
              <a:defRPr sz="950">
                <a:solidFill>
                  <a:srgbClr val="2563EB"/>
                </a:solidFill>
                <a:latin typeface="Sarabun"/>
              </a:defRPr>
            </a:pPr>
            <a:r>
              <a:t>[Student ➔ LIFF UI]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ผู้เรียนพิมพ์ความต้องการอิสระภาษาไทย กำหนดงบประมาณ และวิชาหลัก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96596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arabun"/>
              </a:defRPr>
            </a:pPr>
            <a:r>
              <a:t>STEP 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28016" rIns="128016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  <a:latin typeface="Sarabun"/>
              </a:defRPr>
            </a:pPr>
            <a:r>
              <a:t>2. ส่งคำขอจับคู่</a:t>
            </a:r>
          </a:p>
          <a:p>
            <a:pPr>
              <a:spcAft>
                <a:spcPts val="800"/>
              </a:spcAft>
              <a:defRPr sz="950">
                <a:solidFill>
                  <a:srgbClr val="7C3AED"/>
                </a:solidFill>
                <a:latin typeface="Sarabun"/>
              </a:defRPr>
            </a:pPr>
            <a:r>
              <a:t>[LIFF ➔ FastAPI]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ส่ง POST /api/match/tutors พร้อม Payload ข้อความความต้องการ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2072" y="1645920"/>
            <a:ext cx="196596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arabun"/>
              </a:defRPr>
            </a:pPr>
            <a:r>
              <a:t>STEP 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92624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28016" rIns="128016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  <a:latin typeface="Sarabun"/>
              </a:defRPr>
            </a:pPr>
            <a:r>
              <a:t>3. ดึงคลังข้อมูลติวเตอร์</a:t>
            </a:r>
          </a:p>
          <a:p>
            <a:pPr>
              <a:spcAft>
                <a:spcPts val="800"/>
              </a:spcAft>
              <a:defRPr sz="950">
                <a:solidFill>
                  <a:srgbClr val="4F46E5"/>
                </a:solidFill>
                <a:latin typeface="Sarabun"/>
              </a:defRPr>
            </a:pPr>
            <a:r>
              <a:t>[FastAPI ➔ Database]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ดึงรายชื่อติวเตอร์ทั้งหมดที่มีในระบบ เพื่อใช้เป็นพื้นหลังคำนวณ IDF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92624" y="1645920"/>
            <a:ext cx="1965960" cy="5029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arabun"/>
              </a:defRPr>
            </a:pPr>
            <a:r>
              <a:t>STEP 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23176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28016" rIns="128016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  <a:latin typeface="Sarabun"/>
              </a:defRPr>
            </a:pPr>
            <a:r>
              <a:t>4. ประมวลผล NLP &amp; เวกเตอร์</a:t>
            </a:r>
          </a:p>
          <a:p>
            <a:pPr>
              <a:spcAft>
                <a:spcPts val="800"/>
              </a:spcAft>
              <a:defRPr sz="950">
                <a:solidFill>
                  <a:srgbClr val="D97706"/>
                </a:solidFill>
                <a:latin typeface="Sarabun"/>
              </a:defRPr>
            </a:pPr>
            <a:r>
              <a:t>[FastAPI ➔ AI Engine]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กรอง Hard Filter ➔ ตัดคำด้วย PyThaiNLP ➔ คำนวณ TF-IDF ➔ Cosine Similarity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23176" y="1645920"/>
            <a:ext cx="196596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arabun"/>
              </a:defRPr>
            </a:pPr>
            <a:r>
              <a:t>STEP 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53728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28016" rIns="128016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  <a:latin typeface="Sarabun"/>
              </a:defRPr>
            </a:pPr>
            <a:r>
              <a:t>5. ส่งผลลัพธ์จัดอันดับ</a:t>
            </a:r>
          </a:p>
          <a:p>
            <a:pPr>
              <a:spcAft>
                <a:spcPts val="800"/>
              </a:spcAft>
              <a:defRPr sz="950">
                <a:solidFill>
                  <a:srgbClr val="059669"/>
                </a:solidFill>
                <a:latin typeface="Sarabun"/>
              </a:defRPr>
            </a:pPr>
            <a:r>
              <a:t>[AI Engine ➔ Student]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คืนค่ารายชื่อติวเตอร์ที่ผ่านเกณฑ์ เรียงตาม Match Score (%) พร้อมสไตล์และปุ่มนัดหมาย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53728" y="1645920"/>
            <a:ext cx="196596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arabun"/>
              </a:defRPr>
            </a:pPr>
            <a:r>
              <a:t>STEP 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3AED"/>
                </a:solidFill>
                <a:latin typeface="Sarabun"/>
              </a:defRPr>
            </a:pPr>
            <a:r>
              <a:t>9. แผนภาพลำดับการทำงาน (3)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arabun"/>
              </a:defRPr>
            </a:pPr>
            <a:r>
              <a:t>Sequence Diagram: การจองและการอนุมัตินัดหมาย (Appointment Lifecycle)</a:t>
            </a:r>
          </a:p>
          <a:p>
            <a:pPr>
              <a:defRPr sz="1200">
                <a:solidFill>
                  <a:srgbClr val="475569"/>
                </a:solidFill>
                <a:latin typeface="Sarabun"/>
              </a:defRPr>
            </a:pPr>
            <a:r>
              <a:t>กระบวนการส่งคำขอจองวัน-เวลาเรียน การบันทึกสถานะ Pending และการยืนยัน Approved โดยติวเตอร์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arabun"/>
              </a:defRPr>
            </a:pPr>
            <a:r>
              <a:t>TutorMatch AI  |  การวิเคราะห์การใช้งานและสถาปัตยกรรมเชิงวัตถุ (Use Cases &amp; UML Specification)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28016" rIns="128016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  <a:latin typeface="Sarabun"/>
              </a:defRPr>
            </a:pPr>
            <a:r>
              <a:t>1. จองเวลาเรียน</a:t>
            </a:r>
          </a:p>
          <a:p>
            <a:pPr>
              <a:spcAft>
                <a:spcPts val="800"/>
              </a:spcAft>
              <a:defRPr sz="950">
                <a:solidFill>
                  <a:srgbClr val="2563EB"/>
                </a:solidFill>
                <a:latin typeface="Sarabun"/>
              </a:defRPr>
            </a:pPr>
            <a:r>
              <a:t>[Student ➔ LIFF UI]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ผู้เรียนเลือกวันนัดหมาย ช่วงเวลา และระบุหัวข้อที่ต้องการเรียนพิเศษ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96596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arabun"/>
              </a:defRPr>
            </a:pPr>
            <a:r>
              <a:t>STEP 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28016" rIns="128016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  <a:latin typeface="Sarabun"/>
              </a:defRPr>
            </a:pPr>
            <a:r>
              <a:t>2. บันทึกคำขอใหม่</a:t>
            </a:r>
          </a:p>
          <a:p>
            <a:pPr>
              <a:spcAft>
                <a:spcPts val="800"/>
              </a:spcAft>
              <a:defRPr sz="950">
                <a:solidFill>
                  <a:srgbClr val="7C3AED"/>
                </a:solidFill>
                <a:latin typeface="Sarabun"/>
              </a:defRPr>
            </a:pPr>
            <a:r>
              <a:t>[LIFF ➔ FastAPI ➔ DB]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ส่ง POST /api/appointments บันทึกลงตาราง appointments สถานะ 'pending'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2072" y="1645920"/>
            <a:ext cx="196596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arabun"/>
              </a:defRPr>
            </a:pPr>
            <a:r>
              <a:t>STEP 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92624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28016" rIns="128016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  <a:latin typeface="Sarabun"/>
              </a:defRPr>
            </a:pPr>
            <a:r>
              <a:t>3. แสดงผลคำขอรออนุมัติ</a:t>
            </a:r>
          </a:p>
          <a:p>
            <a:pPr>
              <a:spcAft>
                <a:spcPts val="800"/>
              </a:spcAft>
              <a:defRPr sz="950">
                <a:solidFill>
                  <a:srgbClr val="D97706"/>
                </a:solidFill>
                <a:latin typeface="Sarabun"/>
              </a:defRPr>
            </a:pPr>
            <a:r>
              <a:t>[FastAPI ➔ Student UI]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แดชบอร์ดฝั่งนักเรียนแสดงการ์ดนัดหมายสถานะ '⏳ รอการยืนยัน (Pending)'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92624" y="1645920"/>
            <a:ext cx="196596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arabun"/>
              </a:defRPr>
            </a:pPr>
            <a:r>
              <a:t>STEP 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23176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28016" rIns="128016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  <a:latin typeface="Sarabun"/>
              </a:defRPr>
            </a:pPr>
            <a:r>
              <a:t>4. ติวเตอร์พิจารณาคำขอ</a:t>
            </a:r>
          </a:p>
          <a:p>
            <a:pPr>
              <a:spcAft>
                <a:spcPts val="800"/>
              </a:spcAft>
              <a:defRPr sz="950">
                <a:solidFill>
                  <a:srgbClr val="4F46E5"/>
                </a:solidFill>
                <a:latin typeface="Sarabun"/>
              </a:defRPr>
            </a:pPr>
            <a:r>
              <a:t>[Tutor ➔ LIFF ➔ API]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ติวเตอร์เข้าสู่ระบบ ตรวจสอบตาราง และกดปุ่ม 'อนุมัติ (Approved)'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23176" y="1645920"/>
            <a:ext cx="1965960" cy="5029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arabun"/>
              </a:defRPr>
            </a:pPr>
            <a:r>
              <a:t>STEP 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53728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28016" rIns="128016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  <a:latin typeface="Sarabun"/>
              </a:defRPr>
            </a:pPr>
            <a:r>
              <a:t>5. อัปเดตสถานะสมบูรณ์</a:t>
            </a:r>
          </a:p>
          <a:p>
            <a:pPr>
              <a:spcAft>
                <a:spcPts val="800"/>
              </a:spcAft>
              <a:defRPr sz="950">
                <a:solidFill>
                  <a:srgbClr val="059669"/>
                </a:solidFill>
                <a:latin typeface="Sarabun"/>
              </a:defRPr>
            </a:pPr>
            <a:r>
              <a:t>[DB ➔ Both Dashboards]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ระบบอัปเดต DB และแสดงสถานะ '✅ ยืนยันแล้ว (Approved)' ให้ทั้งสองฝ่ายทราบ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53728" y="1645920"/>
            <a:ext cx="196596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arabun"/>
              </a:defRPr>
            </a:pPr>
            <a:r>
              <a:t>STEP 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3AED"/>
                </a:solidFill>
                <a:latin typeface="Sarabun"/>
              </a:defRPr>
            </a:pPr>
            <a:r>
              <a:t>10. แผนภาพกิจกรรม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arabun"/>
              </a:defRPr>
            </a:pPr>
            <a:r>
              <a:t>แผนภาพกิจกรรมการทำงานตลอดกระบวนการ (Activity Diagram &amp; Workflow)</a:t>
            </a:r>
          </a:p>
          <a:p>
            <a:pPr>
              <a:defRPr sz="1200">
                <a:solidFill>
                  <a:srgbClr val="475569"/>
                </a:solidFill>
                <a:latin typeface="Sarabun"/>
              </a:defRPr>
            </a:pPr>
            <a:r>
              <a:t>การไหลของกิจกรรม (Activity Flow) ตั้งแต่เริ่มต้นเข้าสู่ระบบ การตัดสินใจเงื่อนไข จนสิ้นสุดการนัดหมาย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arabun"/>
              </a:defRPr>
            </a:pPr>
            <a:r>
              <a:t>TutorMatch AI  |  การวิเคราะห์การใช้งานและสถาปัตยกรรมเชิงวัตถุ (Use Cases &amp; UML Specification)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2889504" cy="4096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C3AED"/>
                </a:solidFill>
                <a:latin typeface="Sarabun"/>
              </a:defRPr>
            </a:pPr>
            <a:r>
              <a:t>🔒  ระยะที่ 1: การตรวจสอบตัวตน (Auth)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1. เริ่มต้น: </a:t>
            </a:r>
            <a:r>
              <a:t>ผู้ใช้เปิดหน้าต่าง LINE LIFF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2. ตรวจสอบการเป็นสมาชิก: </a:t>
            </a:r>
            <a:r>
              <a:t>หากยังไม่มีบัญชี ➔ สมัครสมาชิก (กรอก Username, ชื่อ, เลือกบทบาท)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3. ลงทะเบียนใบหน้า: </a:t>
            </a:r>
            <a:r>
              <a:t>เปิดกล้อง ➔ ส่องหน้าตรง ➔ บันทึก Base64 เทมเพลตเข้า DB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4. ล็อกอินด้วยสแกนใบหน้า: </a:t>
            </a:r>
            <a:r>
              <a:t>ถ่ายภาพสด ➔ ส่ง AI วิเคราะห์ Distance &lt; 75.0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5. เงื่อนไขผลลัพธ์: </a:t>
            </a:r>
            <a:r>
              <a:t>หากไม่ผ่านให้ถ่ายใหม่ หากผ่านจะแยก Flow ตามบทบาท (Role Branching)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3291840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810512"/>
            <a:ext cx="2889504" cy="4096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4F46E5"/>
                </a:solidFill>
                <a:latin typeface="Sarabun"/>
              </a:defRPr>
            </a:pPr>
            <a:r>
              <a:t>👨‍🏫  ระยะที่ 2: ฝั่งติวเตอร์ (Tutor Path)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1. บันทึกประวัติ: </a:t>
            </a:r>
            <a:r>
              <a:t>กรอกวิชาที่สอน ความถนัด สไตล์ เรทราคา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2. ตั้งค่าการติดต่อ: </a:t>
            </a:r>
            <a:r>
              <a:t>กรอก LINE ID, เบอร์โทร และคำแนะนำการจอง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3. สร้าง Search Index: </a:t>
            </a:r>
            <a:r>
              <a:t>ระบบบันทึก Vector Text ลง TutorProfile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4. รอรับคำขอนัดหมาย: </a:t>
            </a:r>
            <a:r>
              <a:t>ติวเตอร์ตรวจสอบรายการนัดหมายในระบบ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5. ตัดสินใจอนุมัติ: </a:t>
            </a:r>
            <a:r>
              <a:t>กดเลือก Approved (ยืนยัน) หรือ Declined (ปฏิเสธ)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291840" cy="73152"/>
          </a:xfrm>
          <a:prstGeom prst="round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810512"/>
            <a:ext cx="2889504" cy="4096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6C755"/>
                </a:solidFill>
                <a:latin typeface="Sarabun"/>
              </a:defRPr>
            </a:pPr>
            <a:r>
              <a:t>🧑‍🎓  ระยะที่ 3: ฝั่งผู้เรียน (Student Path)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1. ระบุความต้องการ: </a:t>
            </a:r>
            <a:r>
              <a:t>พิมพ์ข้อความภาษาไทยอิสระ เช่น 'อยากได้พี่ใจดี สอนฟิสิกส์'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2. กำหนดตัวกรอง: </a:t>
            </a:r>
            <a:r>
              <a:t>เลือกวิชาหลัก และงบประมาณสูงสุด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3. AI คำนวณเวกเตอร์: </a:t>
            </a:r>
            <a:r>
              <a:t>ตัดคำไทย ➔ TF-IDF ➔ Cosine Similarity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4. แสดงผล Match Score %: </a:t>
            </a:r>
            <a:r>
              <a:t>แสดงการ์ดติวเตอร์เรียงจากมากไปน้อย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5. เลือกวิธีติดต่อ: </a:t>
            </a:r>
            <a:r>
              <a:t>• ทักแชท LINE OA ติวเตอร์โดยตรง
• ส่งคำขอนัดหมายจองคลาสในระบบ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3AED"/>
                </a:solidFill>
                <a:latin typeface="Sarabun"/>
              </a:defRPr>
            </a:pPr>
            <a:r>
              <a:t>11. แผนภาพสถานะ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arabun"/>
              </a:defRPr>
            </a:pPr>
            <a:r>
              <a:t>แผนภาพสถานะวงจรชีวิตการนัดหมาย (Appointment State Machine Diagram)</a:t>
            </a:r>
          </a:p>
          <a:p>
            <a:pPr>
              <a:defRPr sz="1200">
                <a:solidFill>
                  <a:srgbClr val="475569"/>
                </a:solidFill>
                <a:latin typeface="Sarabun"/>
              </a:defRPr>
            </a:pPr>
            <a:r>
              <a:t>การเปลี่ยนผ่านของสถานะ (State Transitions) ในระบบนัดหมายเรียนพิเศษ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arabun"/>
              </a:defRPr>
            </a:pPr>
            <a:r>
              <a:t>TutorMatch AI  |  การวิเคราะห์การใช้งานและสถาปัตยกรรมเชิงวัตถุ (Use Cases &amp; UML Specification)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4688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200"/>
              </a:spcAft>
              <a:defRPr sz="1400" b="1">
                <a:solidFill>
                  <a:srgbClr val="D97706"/>
                </a:solidFill>
                <a:latin typeface="Sarabun"/>
              </a:defRPr>
            </a:pPr>
            <a:r>
              <a:t>⏳ Pending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arabun"/>
              </a:defRPr>
            </a:pPr>
            <a:r>
              <a:t>รอการยืนยัน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สถานะเริ่มต้นเมื่อนักเรียนกดส่งคำขอนัดหมายวัน-เวลาเรียนลงระบบ เพื่อรอให้ติวเตอร์เข้ามาตรวจสอบตารางเวลาว่าง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4688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200"/>
              </a:spcAft>
              <a:defRPr sz="1400" b="1">
                <a:solidFill>
                  <a:srgbClr val="059669"/>
                </a:solidFill>
                <a:latin typeface="Sarabun"/>
              </a:defRPr>
            </a:pPr>
            <a:r>
              <a:t>✅ Approved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arabun"/>
              </a:defRPr>
            </a:pPr>
            <a:r>
              <a:t>ยืนยันการนัดหมาย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ติวเตอร์ตรวจสอบแล้วเวลาว่างตรงกัน จึงกดยืนยันการสอน ทั้งสองฝ่ายเตรียมเริ่มคลาสเรียนตามวันนัด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4688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200"/>
              </a:spcAft>
              <a:defRPr sz="1400" b="1">
                <a:solidFill>
                  <a:srgbClr val="E11D48"/>
                </a:solidFill>
                <a:latin typeface="Sarabun"/>
              </a:defRPr>
            </a:pPr>
            <a:r>
              <a:t>❌ Declined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arabun"/>
              </a:defRPr>
            </a:pPr>
            <a:r>
              <a:t>ปฏิเสธคำขอ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ติวเตอร์ติดภารกิจอื่น หรือไม่สะดวกสอนในช่วงเวลานั้น ระบบแจ้งให้นักเรียนเลือกวันหรือติวเตอร์ท่านอื่น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4688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200"/>
              </a:spcAft>
              <a:defRPr sz="1400" b="1">
                <a:solidFill>
                  <a:srgbClr val="475569"/>
                </a:solidFill>
                <a:latin typeface="Sarabun"/>
              </a:defRPr>
            </a:pPr>
            <a:r>
              <a:t>🏁 Completed / Cancelled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arabun"/>
              </a:defRPr>
            </a:pPr>
            <a:r>
              <a:t>สิ้นสุด / ยกเลิก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คลาสเรียนดำเนินการเสร็จสิ้นตามวันเวลา (Completed) หรือมีการแจ้งขอยกเลิกก่อนเริ่มคลาสเรียน (Cancelled)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200"/>
              </a:spcAft>
              <a:defRPr sz="1200" b="1">
                <a:solidFill>
                  <a:srgbClr val="7C3AED"/>
                </a:solidFill>
                <a:latin typeface="Sarabun"/>
              </a:defRPr>
            </a:pPr>
            <a:r>
              <a:t>🔄 กฎการเปลี่ยนสถานะ (State Transition Rules):</a:t>
            </a:r>
          </a:p>
          <a:p>
            <a:pPr>
              <a:defRPr sz="1000">
                <a:solidFill>
                  <a:srgbClr val="475569"/>
                </a:solidFill>
                <a:latin typeface="Sarabun"/>
              </a:defRPr>
            </a:pPr>
            <a:r>
              <a:t>• [*] ➔ Pending (Event: create_appointment) | Pending ➔ Approved (Event: tutor_approve) | Pending ➔ Declined (Event: tutor_decline)</a:t>
            </a:r>
            <a:br/>
            <a:r>
              <a:t>• Approved ➔ Completed (Event: session_end) | Pending / Approved ➔ Cancelled (Event: cancel_appointment)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3AED"/>
                </a:solidFill>
                <a:latin typeface="Sarabun"/>
              </a:defRPr>
            </a:pPr>
            <a:r>
              <a:t>12. สถาปัตยกรรมการติดตั้ง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arabun"/>
              </a:defRPr>
            </a:pPr>
            <a:r>
              <a:t>แผนภาพการติดตั้งและคอมโพเนนต์ระบบ (Component &amp; Deployment Diagram)</a:t>
            </a:r>
          </a:p>
          <a:p>
            <a:pPr>
              <a:defRPr sz="1200">
                <a:solidFill>
                  <a:srgbClr val="475569"/>
                </a:solidFill>
                <a:latin typeface="Sarabun"/>
              </a:defRPr>
            </a:pPr>
            <a:r>
              <a:t>การจัดวางองค์ประกอบซอฟต์แวร์ ฮาร์ดแวร์ และเครือข่ายคลาวด์สำหรับนำระบบไปใช้งานจริง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arabun"/>
              </a:defRPr>
            </a:pPr>
            <a:r>
              <a:t>TutorMatch AI  |  การวิเคราะห์การใช้งานและสถาปัตยกรรมเชิงวัตถุ (Use Cases &amp; UML Specification)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 lIns="128016" rIns="128016"/>
          <a:lstStyle/>
          <a:p>
            <a:pPr algn="ctr"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Mobile Browser
</a:t>
            </a:r>
            <a:r>
              <a:rPr sz="1000">
                <a:solidFill>
                  <a:srgbClr val="475569"/>
                </a:solidFill>
              </a:rPr>
              <a:t>  LINE App &amp; Safari / Chrome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WebRTC Camera
</a:t>
            </a:r>
            <a:r>
              <a:rPr sz="1000">
                <a:solidFill>
                  <a:srgbClr val="475569"/>
                </a:solidFill>
              </a:rPr>
              <a:t>  เปิดสิทธิ์บันทึกภาพสดจากกล้อง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LIFF Frontend
</a:t>
            </a:r>
            <a:r>
              <a:rPr sz="1000">
                <a:solidFill>
                  <a:srgbClr val="475569"/>
                </a:solidFill>
              </a:rPr>
              <a:t>  HTML5, CSS3 Modern Flex/Grid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46888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arabun"/>
              </a:defRPr>
            </a:pPr>
            <a:r>
              <a:t>📱 Client Tier (อุปกรณ์)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 lIns="128016" rIns="128016"/>
          <a:lstStyle/>
          <a:p>
            <a:pPr algn="ctr"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LINE LIFF CDN
</a:t>
            </a:r>
            <a:r>
              <a:rPr sz="1000">
                <a:solidFill>
                  <a:srgbClr val="475569"/>
                </a:solidFill>
              </a:rPr>
              <a:t>  โหลด LIFF SDK และ Auth Token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Messaging Gateway
</a:t>
            </a:r>
            <a:r>
              <a:rPr sz="1000">
                <a:solidFill>
                  <a:srgbClr val="475569"/>
                </a:solidFill>
              </a:rPr>
              <a:t>  รับส่งข้อความ Flex Messages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Reverse Proxy
</a:t>
            </a:r>
            <a:r>
              <a:rPr sz="1000">
                <a:solidFill>
                  <a:srgbClr val="475569"/>
                </a:solidFill>
              </a:rPr>
              <a:t>  Nginx / Cloudflare SSL TLS 1.3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45920"/>
            <a:ext cx="2468880" cy="502920"/>
          </a:xfrm>
          <a:prstGeom prst="round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arabun"/>
              </a:defRPr>
            </a:pPr>
            <a:r>
              <a:t>🌐 Cloud Gateway Tier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 lIns="128016" rIns="128016"/>
          <a:lstStyle/>
          <a:p>
            <a:pPr algn="ctr"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FastAPI Backend
</a:t>
            </a:r>
            <a:r>
              <a:rPr sz="1000">
                <a:solidFill>
                  <a:srgbClr val="475569"/>
                </a:solidFill>
              </a:rPr>
              <a:t>  Python 3.10+ Asynchronous API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Uvicorn Server
</a:t>
            </a:r>
            <a:r>
              <a:rPr sz="1000">
                <a:solidFill>
                  <a:srgbClr val="475569"/>
                </a:solidFill>
              </a:rPr>
              <a:t>  High Concurrency ASGI Worker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AI Subsystem
</a:t>
            </a:r>
            <a:r>
              <a:rPr sz="1000">
                <a:solidFill>
                  <a:srgbClr val="475569"/>
                </a:solidFill>
              </a:rPr>
              <a:t>  OpenCV, LBPH, PyThaiNLP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46888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arabun"/>
              </a:defRPr>
            </a:pPr>
            <a:r>
              <a:t>⚙️ Application Tier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 lIns="128016" rIns="128016"/>
          <a:lstStyle/>
          <a:p>
            <a:pPr algn="ctr"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Relational DB
</a:t>
            </a:r>
            <a:r>
              <a:rPr sz="1000">
                <a:solidFill>
                  <a:srgbClr val="475569"/>
                </a:solidFill>
              </a:rPr>
              <a:t>  SQLite / PostgreSQL + ORM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Biometrics Store
</a:t>
            </a:r>
            <a:r>
              <a:rPr sz="1000">
                <a:solidFill>
                  <a:srgbClr val="475569"/>
                </a:solidFill>
              </a:rPr>
              <a:t>  Base64 Normalized Face Templates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Index Cache
</a:t>
            </a:r>
            <a:r>
              <a:rPr sz="1000">
                <a:solidFill>
                  <a:srgbClr val="475569"/>
                </a:solidFill>
              </a:rPr>
              <a:t>  Tutor Profile Vector Representation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45920"/>
            <a:ext cx="246888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arabun"/>
              </a:defRPr>
            </a:pPr>
            <a:r>
              <a:t>💾 Persistence Tier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3AED"/>
                </a:solidFill>
                <a:latin typeface="Sarabun"/>
              </a:defRPr>
            </a:pPr>
            <a:r>
              <a:t>13. การเชื่อมโยงกับซอร์สโค้ด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arabun"/>
              </a:defRPr>
            </a:pPr>
            <a:r>
              <a:t>ความสอดคล้องระหว่างเอกสาร UML และซอร์สโค้ดจริง (Code Traceability)</a:t>
            </a:r>
          </a:p>
          <a:p>
            <a:pPr>
              <a:defRPr sz="1200">
                <a:solidFill>
                  <a:srgbClr val="475569"/>
                </a:solidFill>
                <a:latin typeface="Sarabun"/>
              </a:defRPr>
            </a:pPr>
            <a:r>
              <a:t>การจับคู่ระหว่างข้อกำหนด Use Cases, UML Classes และไฟล์โค้ดในโครงการ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arabun"/>
              </a:defRPr>
            </a:pPr>
            <a:r>
              <a:t>TutorMatch AI  |  การวิเคราะห์การใช้งานและสถาปัตยกรรมเชิงวัตถุ (Use Cases &amp; UML Specification)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4663440" cy="1783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563EB"/>
                </a:solidFill>
                <a:latin typeface="Sarabun"/>
              </a:defRPr>
            </a:pPr>
            <a:r>
              <a:t>🗄️  โมเดลฐานข้อมูล (Database Entities)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Sarabun"/>
              </a:defRPr>
            </a:pPr>
            <a:r>
              <a:t>Source File: [models.py]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ตาราง User, BiometricProfile, TutorProfile, Appointment เชื่อมโยงตรงกับ Class Diagram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109728" cy="2057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4663440" cy="1783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7C3AED"/>
                </a:solidFill>
                <a:latin typeface="Sarabun"/>
              </a:defRPr>
            </a:pPr>
            <a:r>
              <a:t>🧠  โมดูลปัญญาประดิษฐ์ (AI Engine)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Sarabun"/>
              </a:defRPr>
            </a:pPr>
            <a:r>
              <a:t>Source File: [ai_engine.py]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ฟังก์ชัน extract_face_landmarks(), verify_faces(), match_tutors() รองรับ UC-02, UC-03, UC-05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4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977640"/>
            <a:ext cx="109728" cy="20574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60520"/>
            <a:ext cx="4663440" cy="1783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4F46E5"/>
                </a:solidFill>
                <a:latin typeface="Sarabun"/>
              </a:defRPr>
            </a:pPr>
            <a:r>
              <a:t>⚡  เว็บคอนโทรลเลอร์ (API Controller)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Sarabun"/>
              </a:defRPr>
            </a:pPr>
            <a:r>
              <a:t>Source File: [main.py]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FastAPI Endpoints รับ-ส่ง Request, ควบคุม Session และการเปลี่ยนสถานะคำขอนัดหมาย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97764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3977640"/>
            <a:ext cx="109728" cy="2057400"/>
          </a:xfrm>
          <a:prstGeom prst="round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160520"/>
            <a:ext cx="4663440" cy="1783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6C755"/>
                </a:solidFill>
                <a:latin typeface="Sarabun"/>
              </a:defRPr>
            </a:pPr>
            <a:r>
              <a:t>📱  หน้าต่างผู้ใช้ (User Interface)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Sarabun"/>
              </a:defRPr>
            </a:pPr>
            <a:r>
              <a:t>Source File: [static/index.html]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LINE LIFF Web Portal จำลองระบบสแกนใบหน้า ค้นหาติวเตอร์ และแดชบอร์ดนัดหมาย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1371600"/>
            <a:ext cx="5486400" cy="54864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EC4899"/>
                </a:solidFill>
                <a:latin typeface="Sarabun"/>
              </a:defRPr>
            </a:pPr>
            <a:r>
              <a:t>UML SPECIFICATION SUMMARY &amp; VERIFICATION</a:t>
            </a:r>
          </a:p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Sarabun"/>
              </a:defRPr>
            </a:pPr>
            <a:r>
              <a:t>สรุปผลการวิเคราะห์และออกแบบระบบ</a:t>
            </a:r>
          </a:p>
          <a:p>
            <a:pPr>
              <a:spcAft>
                <a:spcPts val="2200"/>
              </a:spcAft>
              <a:defRPr sz="1350">
                <a:solidFill>
                  <a:srgbClr val="CBD5E1"/>
                </a:solidFill>
                <a:latin typeface="Sarabun"/>
              </a:defRPr>
            </a:pPr>
            <a:r>
              <a:t>การจัดทำ Use Cases และแผนภาพ UML ครบถ้วนตามมาตรฐานวิศวกรรมซอฟต์แวร์ ช่วยให้ทีมพัฒนาและผู้มีส่วนได้ส่วนเสียเห็นภาพรวมทางสถาปัตยกรรมที่ชัดเจน ครอบคลุมทั้ง:</a:t>
            </a:r>
            <a:br/>
            <a:r>
              <a:t>• แผนภาพโครงสร้าง (Structural Diagrams): Use Case Diagram, Class Diagram, Deployment Diagram</a:t>
            </a:r>
            <a:br/>
            <a:r>
              <a:t>• แผนภาพพฤติกรรม (Behavioral Diagrams): Sequence Diagrams, Activity Diagram, State Machine Diagram</a:t>
            </a:r>
            <a:br/>
            <a:br/>
            <a:r>
              <a:t>พร้อมรองรับการพัฒนา ตรวจสอบ และขยายขีดความสามารถของระบบในระดับ Enterprise ต่อไป</a:t>
            </a:r>
          </a:p>
          <a:p>
            <a:pPr>
              <a:defRPr sz="1800" b="1">
                <a:solidFill>
                  <a:srgbClr val="A78BFA"/>
                </a:solidFill>
                <a:latin typeface="Sarabun"/>
              </a:defRPr>
            </a:pPr>
            <a:r>
              <a:t>🎉 ขอขอบพระคุณทุกท่าน  |  เข้าสู่ช่วงถาม-ตอบ (Q&amp;A Session)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