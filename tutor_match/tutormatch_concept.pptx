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EC4899"/>
                </a:solidFill>
                <a:latin typeface="Sarabun"/>
              </a:defRPr>
            </a:pPr>
            <a:r>
              <a:t>AI-POWERED EDUCATION PLATFORM  •  CONCEPT &amp; ARCHITECTURE</a:t>
            </a:r>
          </a:p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  <a:latin typeface="Sarabun"/>
              </a:defRPr>
            </a:pPr>
            <a:r>
              <a:t>TutorMatch AI</a:t>
            </a:r>
          </a:p>
          <a:p>
            <a:pPr>
              <a:spcAft>
                <a:spcPts val="1200"/>
              </a:spcAft>
              <a:defRPr sz="2200">
                <a:solidFill>
                  <a:srgbClr val="A78BFA"/>
                </a:solidFill>
                <a:latin typeface="Sarabun"/>
              </a:defRPr>
            </a:pPr>
            <a:r>
              <a:t>ระบบจับคู่ติวเตอร์อัจฉริยะด้วยปัญญาประดิษฐ์ ผ่าน LINE Official Account</a:t>
            </a:r>
          </a:p>
          <a:p>
            <a:pPr>
              <a:defRPr sz="1300">
                <a:solidFill>
                  <a:srgbClr val="CBD5E1"/>
                </a:solidFill>
                <a:latin typeface="Sarabun"/>
              </a:defRPr>
            </a:pPr>
            <a:r>
              <a:t>การยืนยันตัวตนด้วยใบหน้าชีวมิติ (Face Biometrics) และการวิเคราะห์การจับคู่เชิงความหมายด้วยภาษาธรรมชาติ (Thai Semantic Matching)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572000"/>
            <a:ext cx="237744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F1F5F9"/>
                </a:solidFill>
                <a:latin typeface="Sarabun"/>
              </a:defRPr>
            </a:pPr>
            <a:r>
              <a:t>📱 LINE Ecosystem</a:t>
            </a:r>
          </a:p>
          <a:p>
            <a:pPr>
              <a:defRPr sz="1000">
                <a:solidFill>
                  <a:srgbClr val="94A3B8"/>
                </a:solidFill>
                <a:latin typeface="Sarabun"/>
              </a:defRPr>
            </a:pPr>
            <a:r>
              <a:t>ใช้งานผ่าน LINE LIFF สะดวกไม่ต้องโหลดแอป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4572000"/>
            <a:ext cx="237744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F1F5F9"/>
                </a:solidFill>
                <a:latin typeface="Sarabun"/>
              </a:defRPr>
            </a:pPr>
            <a:r>
              <a:t>👤 Face Recognition</a:t>
            </a:r>
          </a:p>
          <a:p>
            <a:pPr>
              <a:defRPr sz="1000">
                <a:solidFill>
                  <a:srgbClr val="94A3B8"/>
                </a:solidFill>
                <a:latin typeface="Sarabun"/>
              </a:defRPr>
            </a:pPr>
            <a:r>
              <a:t>ยืนยันตัวตนชีวมิติด้วย LBPH &amp; OpenCV ปลอดภัย 100%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572000"/>
            <a:ext cx="237744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F1F5F9"/>
                </a:solidFill>
                <a:latin typeface="Sarabun"/>
              </a:defRPr>
            </a:pPr>
            <a:r>
              <a:t>🧠 Thai NLP Matching</a:t>
            </a:r>
          </a:p>
          <a:p>
            <a:pPr>
              <a:defRPr sz="1000">
                <a:solidFill>
                  <a:srgbClr val="94A3B8"/>
                </a:solidFill>
                <a:latin typeface="Sarabun"/>
              </a:defRPr>
            </a:pPr>
            <a:r>
              <a:t>วิเคราะห์สไตล์และความถนัดด้วย TF-IDF &amp; Cosine Similarity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4572000"/>
            <a:ext cx="237744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F1F5F9"/>
                </a:solidFill>
                <a:latin typeface="Sarabun"/>
              </a:defRPr>
            </a:pPr>
            <a:r>
              <a:t>⚡ FastAPI High-Perf</a:t>
            </a:r>
          </a:p>
          <a:p>
            <a:pPr>
              <a:defRPr sz="1000">
                <a:solidFill>
                  <a:srgbClr val="94A3B8"/>
                </a:solidFill>
                <a:latin typeface="Sarabun"/>
              </a:defRPr>
            </a:pPr>
            <a:r>
              <a:t>ประมวลผลรวดเร็วแบบ Asynchronous รองรับการขยายตัว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C3AED"/>
                </a:solidFill>
                <a:latin typeface="Sarabun"/>
              </a:defRPr>
            </a:pPr>
            <a:r>
              <a:t>1. ที่มาและความสำคัญ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arabun"/>
              </a:defRPr>
            </a:pPr>
            <a:r>
              <a:t>ปัญหาในระบบการค้นหาติวเตอร์แบบดั้งเดิม (Problem Statement)</a:t>
            </a:r>
          </a:p>
          <a:p>
            <a:pPr>
              <a:defRPr sz="1200">
                <a:solidFill>
                  <a:srgbClr val="475569"/>
                </a:solidFill>
                <a:latin typeface="Sarabun"/>
              </a:defRPr>
            </a:pPr>
            <a:r>
              <a:t>ช่องว่างระหว่างความต้องการที่แท้จริงของผู้เรียน กับระบบค้นหาติวเตอร์ทั่วไปในปัจจุบัน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arabun"/>
              </a:defRPr>
            </a:pPr>
            <a:r>
              <a:t>TutorMatch AI  |  สถาปัตยกรรมระบบและแนวคิดการออกแบบ (Concept &amp; Architecture)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291840" cy="7315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283464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97706"/>
                </a:solidFill>
                <a:latin typeface="Sarabun"/>
              </a:defRPr>
            </a:pPr>
            <a:r>
              <a:t>⚠️  การค้นหาแบบเดิมไม่ตรงใจ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ค้นหาแบบ Keyword หยาบๆ: </a:t>
            </a:r>
            <a:r>
              <a:t>ระบบทั่วไปค้นหาแค่ชื่อวิชา แต่ไม่เข้าใจบริบทเชิงลึก เช่น ระดับความรู้พื้นฐาน หรือเป้าหมายในการสอบ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ละเลยสไตล์การสอน: </a:t>
            </a:r>
            <a:r>
              <a:t>นักเรียนแต่ละคนชอบสไตล์ต่างกัน (เช่น เน้นสนุกสนาน, เน้นลุยโจทย์เข้มข้น, หรือใจเย็นสอนช้าๆ) แต่ระบบเดิมไม่สามารถประเมินได้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เสียเวลาและค่าใช้จ่าย: </a:t>
            </a:r>
            <a:r>
              <a:t>ผู้เรียนต้องเสียเวลาทดลองเรียนกับติวเตอร์หลายคนกว่าจะพบคนที่เข้ากับตนเองได้จริง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1645920"/>
            <a:ext cx="3291840" cy="7315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28800"/>
            <a:ext cx="283464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11D48"/>
                </a:solidFill>
                <a:latin typeface="Sarabun"/>
              </a:defRPr>
            </a:pPr>
            <a:r>
              <a:t>🛡️  ความปลอดภัยและการสวมรอย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ขาดการยืนยันตัวตนที่แท้จริง: </a:t>
            </a:r>
            <a:r>
              <a:t>มักสมัครผ่านอีเมลหรือเบอร์โทรธรรมดา ไม่สามารถตรวจสอบใบหน้าของติวเตอร์หรือผู้เรียนจริงได้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ความเสี่ยงต่อผู้เรียน: </a:t>
            </a:r>
            <a:r>
              <a:t>การนัดหมายเรียนตัวต่อตัวมีความเสี่ยงด้านความปลอดภัย หากแพลตฟอร์มไม่มีการยืนยันอัตลักษณ์บุคคล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การแอบอ้างโปรไฟล์: </a:t>
            </a:r>
            <a:r>
              <a:t>อาจมีการสวมรอยใช้ประวัติการศึกษาของผู้อื่นเพื่อเปิดรับสอนพิเศษ สร้างความเสียหายต่อผู้บริโภค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1645920"/>
            <a:ext cx="329184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828800"/>
            <a:ext cx="283464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63EB"/>
                </a:solidFill>
                <a:latin typeface="Sarabun"/>
              </a:defRPr>
            </a:pPr>
            <a:r>
              <a:t>📱  ความยุ่งยากในการใช้งาน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อุปสรรคจากการโหลดแอป: </a:t>
            </a:r>
            <a:r>
              <a:t>ผู้ใช้ต้องดาวน์โหลดแอปใหม่ สมัครสมาชิกหลายขั้นตอน และมักลบแอปทิ้งหลังใช้งาน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ขาดความต่อเนื่อง: </a:t>
            </a:r>
            <a:r>
              <a:t>ช่องทางการค้นหากับช่องทางการติดต่อสื่อสารแยกส่วนกัน (ต้องสลับไปมาระหว่างแอปกับแชท)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ไม่มีระบบนัดหมายที่เชื่อมโยง: </a:t>
            </a:r>
            <a:r>
              <a:t>การจองคลาสเรียนไม่มีการบันทึกสถานะที่เป็นระบบ ทำให้ตกหล่นหรือสื่อสารไม่ตรงกัน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C3AED"/>
                </a:solidFill>
                <a:latin typeface="Sarabun"/>
              </a:defRPr>
            </a:pPr>
            <a:r>
              <a:t>2. แนวคิดและวิสัยทัศน์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arabun"/>
              </a:defRPr>
            </a:pPr>
            <a:r>
              <a:t>3 เสาหลักในการออกแบบระบบ TutorMatch AI (Core Pillars)</a:t>
            </a:r>
          </a:p>
          <a:p>
            <a:pPr>
              <a:defRPr sz="1200">
                <a:solidFill>
                  <a:srgbClr val="475569"/>
                </a:solidFill>
                <a:latin typeface="Sarabun"/>
              </a:defRPr>
            </a:pPr>
            <a:r>
              <a:t>การผสานเทคโนโลยีสมัยใหม่เข้ากับพฤติกรรมผู้ใช้งานจริง เพื่อสร้างแพลตฟอร์มที่สมบูรณ์แบบ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arabun"/>
              </a:defRPr>
            </a:pPr>
            <a:r>
              <a:t>TutorMatch AI  |  สถาปัตยกรรมระบบและแนวคิดการออกแบบ (Concept &amp; Architecture)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291840" cy="73152"/>
          </a:xfrm>
          <a:prstGeom prst="round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283464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C755"/>
                </a:solidFill>
                <a:latin typeface="Sarabun"/>
              </a:defRPr>
            </a:pPr>
            <a:r>
              <a:t>💬  1. Seamless Accessibility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LINE Native Experience: </a:t>
            </a:r>
            <a:r>
              <a:t>เชื่อมต่อผ่าน LINE Official Account และ LINE LIFF 100% ผู้ใช้เข้าถึงได้ทันทีจากแอปที่เปิดทุกวัน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Zero Installation Friction: </a:t>
            </a:r>
            <a:r>
              <a:t>ไม่ต้องดาวน์โหลด ไม่ต้องอัปเดตแอป รองรับทั้ง iOS, Android และ Desktop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Direct Communication: </a:t>
            </a:r>
            <a:r>
              <a:t>คุยตรง นัดหมาย และรับการแจ้งเตือนผ่านช่องทาง LINE แชทที่คุ้นเคยได้อย่างไร้รอยต่อ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1645920"/>
            <a:ext cx="329184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28800"/>
            <a:ext cx="283464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7C3AED"/>
                </a:solidFill>
                <a:latin typeface="Sarabun"/>
              </a:defRPr>
            </a:pPr>
            <a:r>
              <a:t>🔒  2. Biometric Trust &amp; Safety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Face Recognition Login: </a:t>
            </a:r>
            <a:r>
              <a:t>ใช้การสแกนใบหน้าจริงผ่านกล้องมือถือ/เว็บบราวเซอร์เพื่อเข้าสู่ระบบ แทนรหัสผ่านธรรมดา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Identity Verification: </a:t>
            </a:r>
            <a:r>
              <a:t>ยืนยันตัวตนทั้งฝั่งผู้สอนและผู้เรียน ป้องกันการแอบอ้างสวมรอยโปรไฟล์อย่างเด็ดขาด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Standard Feature Template: </a:t>
            </a:r>
            <a:r>
              <a:t>สกัดลักษณะเด่นของใบหน้าเก็บเป็นพิกัดปลอดภัย ไม่ต้องเก็บรหัสผ่านที่อาจรั่วไหล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1645920"/>
            <a:ext cx="3291840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828800"/>
            <a:ext cx="283464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4F46E5"/>
                </a:solidFill>
                <a:latin typeface="Sarabun"/>
              </a:defRPr>
            </a:pPr>
            <a:r>
              <a:t>🤖  3. Intelligent Semantic Match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Thai NLP Understanding: </a:t>
            </a:r>
            <a:r>
              <a:t>ระบบเข้าใจข้อความภาษาไทยอิสระ เช่น 'อยากได้พี่ใจดี สอนฟิสิกส์ ปูพื้นฐาน'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Two-Stage Filtering: </a:t>
            </a:r>
            <a:r>
              <a:t>กรองเบื้องต้นด้วยงบประมาณและวิชาหลัก จากนั้นคำนวณความเข้ากันได้เชิงความหมาย (Semantic Score)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Match Percentage Ranking: </a:t>
            </a:r>
            <a:r>
              <a:t>แสดงผลการจับคู่เป็นคะแนนเปอร์เซ็นต์ ช่วยให้ตัดสินใจเลือกติวเตอร์ได้อย่างมั่นใจ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C3AED"/>
                </a:solidFill>
                <a:latin typeface="Sarabun"/>
              </a:defRPr>
            </a:pPr>
            <a:r>
              <a:t>3. สถาปัตยกรรมระบบ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arabun"/>
              </a:defRPr>
            </a:pPr>
            <a:r>
              <a:t>โครงสร้างสถาปัตยกรรมระบบ 5 ระดับ (5-Tier System Architecture)</a:t>
            </a:r>
          </a:p>
          <a:p>
            <a:pPr>
              <a:defRPr sz="1200">
                <a:solidFill>
                  <a:srgbClr val="475569"/>
                </a:solidFill>
                <a:latin typeface="Sarabun"/>
              </a:defRPr>
            </a:pPr>
            <a:r>
              <a:t>การแบ่งหน้าที่การทำงานอย่างเป็นเอกเทศ (Separation of Concerns) เพื่อประสิทธิภาพและความเสถียร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arabun"/>
              </a:defRPr>
            </a:pPr>
            <a:r>
              <a:t>TutorMatch AI  |  สถาปัตยกรรมระบบและแนวคิดการออกแบบ (Concept &amp; Architecture)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377440" cy="822960"/>
          </a:xfrm>
          <a:prstGeom prst="round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arabun"/>
              </a:defRPr>
            </a:pPr>
            <a:r>
              <a:t>📱 Presentation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755648"/>
            <a:ext cx="7955279" cy="60350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300" b="1">
                <a:solidFill>
                  <a:srgbClr val="06C755"/>
                </a:solidFill>
                <a:latin typeface="Sarabun"/>
              </a:defRPr>
            </a:pPr>
            <a:r>
              <a:t>LINE App &amp; LIFF Interface</a:t>
            </a:r>
          </a:p>
          <a:p>
            <a:pPr>
              <a:defRPr sz="1100">
                <a:solidFill>
                  <a:srgbClr val="475569"/>
                </a:solidFill>
                <a:latin typeface="Sarabun"/>
              </a:defRPr>
            </a:pPr>
            <a:r>
              <a:t>หน้ากากเว็บแอปพลิเคชันฝังใน LINE, ควบคุมกล้อง WebRTC, รองรับ Responsive ทุกอุปกรณ์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78608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578608"/>
            <a:ext cx="2377440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arabun"/>
              </a:defRPr>
            </a:pPr>
            <a:r>
              <a:t>🔗 Gateway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688336"/>
            <a:ext cx="7955279" cy="60350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arabun"/>
              </a:defRPr>
            </a:pPr>
            <a:r>
              <a:t>LINE Messaging &amp; Webhook</a:t>
            </a:r>
          </a:p>
          <a:p>
            <a:pPr>
              <a:defRPr sz="1100">
                <a:solidFill>
                  <a:srgbClr val="475569"/>
                </a:solidFill>
                <a:latin typeface="Sarabun"/>
              </a:defRPr>
            </a:pPr>
            <a:r>
              <a:t>รับส่งข้อความ Push/Reply Notification, Interactive Flex Message Cards, จัดการ Event Webhook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11296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511296"/>
            <a:ext cx="2377440" cy="8229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arabun"/>
              </a:defRPr>
            </a:pPr>
            <a:r>
              <a:t>⚡ Application / API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621024"/>
            <a:ext cx="7955279" cy="60350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300" b="1">
                <a:solidFill>
                  <a:srgbClr val="7C3AED"/>
                </a:solidFill>
                <a:latin typeface="Sarabun"/>
              </a:defRPr>
            </a:pPr>
            <a:r>
              <a:t>FastAPI Python Backend</a:t>
            </a:r>
          </a:p>
          <a:p>
            <a:pPr>
              <a:defRPr sz="1100">
                <a:solidFill>
                  <a:srgbClr val="475569"/>
                </a:solidFill>
                <a:latin typeface="Sarabun"/>
              </a:defRPr>
            </a:pPr>
            <a:r>
              <a:t>ประมวลผลคำขอ Asynchronous REST APIs, ตรรกะทางธุรกิจ (Business Logic), จัดการ Session และการนัดหมาย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43984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443984"/>
            <a:ext cx="2377440" cy="8229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arabun"/>
              </a:defRPr>
            </a:pPr>
            <a:r>
              <a:t>🧠 AI Intelligence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553712"/>
            <a:ext cx="7955279" cy="60350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Sarabun"/>
              </a:defRPr>
            </a:pPr>
            <a:r>
              <a:t>Computer Vision &amp; Thai NLP</a:t>
            </a:r>
          </a:p>
          <a:p>
            <a:pPr>
              <a:defRPr sz="1100">
                <a:solidFill>
                  <a:srgbClr val="475569"/>
                </a:solidFill>
                <a:latin typeface="Sarabun"/>
              </a:defRPr>
            </a:pPr>
            <a:r>
              <a:t>โมดูล Face Detection &amp; LBPH Verification, PyThaiNLP Tokenizer, TF-IDF Vector &amp; Cosine Similarity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76672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5376672"/>
            <a:ext cx="2377440" cy="8229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arabun"/>
              </a:defRPr>
            </a:pPr>
            <a:r>
              <a:t>💾 Data Persistence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5486400"/>
            <a:ext cx="7955279" cy="60350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Sarabun"/>
              </a:defRPr>
            </a:pPr>
            <a:r>
              <a:t>Relational &amp; Vector Storage</a:t>
            </a:r>
          </a:p>
          <a:p>
            <a:pPr>
              <a:defRPr sz="1100">
                <a:solidFill>
                  <a:srgbClr val="475569"/>
                </a:solidFill>
                <a:latin typeface="Sarabun"/>
              </a:defRPr>
            </a:pPr>
            <a:r>
              <a:t>SQLAlchemy ORM, SQLite / PostgreSQL, จัดเก็บ User Credentials, Biometrics, Profiles และ Appointments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C3AED"/>
                </a:solidFill>
                <a:latin typeface="Sarabun"/>
              </a:defRPr>
            </a:pPr>
            <a:r>
              <a:t>4. เทคโนโลยีที่เลือกใช้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arabun"/>
              </a:defRPr>
            </a:pPr>
            <a:r>
              <a:t>ชุดเทคโนโลยีหลักในการพัฒนาระบบ (Technology Stack)</a:t>
            </a:r>
          </a:p>
          <a:p>
            <a:pPr>
              <a:defRPr sz="1200">
                <a:solidFill>
                  <a:srgbClr val="475569"/>
                </a:solidFill>
                <a:latin typeface="Sarabun"/>
              </a:defRPr>
            </a:pPr>
            <a:r>
              <a:t>คัดเลือกเทคโนโลยีที่มีเสถียรภาพสูง ประมวลผลรวดเร็ว และรองรับการสเกลในอนาคต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arabun"/>
              </a:defRPr>
            </a:pPr>
            <a:r>
              <a:t>TutorMatch AI  |  สถาปัตยกรรมระบบและแนวคิดการออกแบบ (Concept &amp; Architecture)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46888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201168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63EB"/>
                </a:solidFill>
                <a:latin typeface="Sarabun"/>
              </a:defRPr>
            </a:pPr>
            <a:r>
              <a:t>🐍  Backend &amp; Web API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Python 3.10+: </a:t>
            </a:r>
            <a:r>
              <a:t>ภาษาหลักในการคำนวณ AI และระบบหลังบ้าน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FastAPI Framework: </a:t>
            </a:r>
            <a:r>
              <a:t>เว็บเฟรมเวิร์ก Asynchronous ความเร็วสูง เอกสาร OpenAPI อัตโนมัติ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Uvicorn ASGI: </a:t>
            </a:r>
            <a:r>
              <a:t>Web Server ประสิทธิภาพสูง รองรับ Concurrent Requests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Pydantic &amp; ORM: </a:t>
            </a:r>
            <a:r>
              <a:t>ตรวจสอบความถูกต้องของข้อมูล (Validation) และเชื่อมโยง Database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1645920"/>
            <a:ext cx="2468880" cy="73152"/>
          </a:xfrm>
          <a:prstGeom prst="round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828800"/>
            <a:ext cx="201168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C755"/>
                </a:solidFill>
                <a:latin typeface="Sarabun"/>
              </a:defRPr>
            </a:pPr>
            <a:r>
              <a:t>💬  LINE Platform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LINE Messaging API: </a:t>
            </a:r>
            <a:r>
              <a:t>เชื่อมต่อการสื่อสาร รับ Webhook Event ส่ง Push Messages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LINE LIFF (Front-end): </a:t>
            </a:r>
            <a:r>
              <a:t>ฝัง Web App บน LINE เปิดกล้องและควบคุม UI ได้อย่างราบรื่น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Flex Messages: </a:t>
            </a:r>
            <a:r>
              <a:t>การ์ดข้อความแบบโต้ตอบ (Interactive JSON) สวยงาม น่าอ่าน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LINE Official Account: </a:t>
            </a:r>
            <a:r>
              <a:t>จุดศูนย์กลางในการสื่อสารกับผู้ใช้งานในไทย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645920"/>
            <a:ext cx="246888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828800"/>
            <a:ext cx="201168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7C3AED"/>
                </a:solidFill>
                <a:latin typeface="Sarabun"/>
              </a:defRPr>
            </a:pPr>
            <a:r>
              <a:t>📸  AI &amp; Computer Vision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OpenCV (cv2): </a:t>
            </a:r>
            <a:r>
              <a:t>ประมวลผลรูปภาพขั้นสูง ปรับ Grayscale และ Resize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Haar Cascade: </a:t>
            </a:r>
            <a:r>
              <a:t>ตรวจจับพิกัดใบหน้า (Frontal Face Detection) แม่นยำ รวดเร็ว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LBPH Face Recognizer: </a:t>
            </a:r>
            <a:r>
              <a:t>สกัดลักษณะเด่นของใบหน้า (Local Binary Patterns) เปรียบเทียบเวกเตอร์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Base64 Encoding: </a:t>
            </a:r>
            <a:r>
              <a:t>แปลงข้อมูลภาพระหว่างกล้องและ API แบบ Real-time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61120" y="1645920"/>
            <a:ext cx="2468880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1828800"/>
            <a:ext cx="201168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4F46E5"/>
                </a:solidFill>
                <a:latin typeface="Sarabun"/>
              </a:defRPr>
            </a:pPr>
            <a:r>
              <a:t>🗄️  NLP &amp; Database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PyThaiNLP ('newmm'): </a:t>
            </a:r>
            <a:r>
              <a:t>โมเดลตัดคำภาษาไทยพจนานุกรมความเร็วสูง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TF-IDF Vectorizer: </a:t>
            </a:r>
            <a:r>
              <a:t>ประเมินค่าน้ำหนักความสำคัญของคำศัพท์ในโปรไฟล์และคำค้นหา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Cosine Similarity: </a:t>
            </a:r>
            <a:r>
              <a:t>คำนวณองศาความคล้ายคลึงของเวกเตอร์ความต้องการ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SQLAlchemy &amp; SQLite: </a:t>
            </a:r>
            <a:r>
              <a:t>ฐานข้อมูลสัมพันธ์ เก็บข้อมูลผู้ใช้ ประวัติ และการนัดหมาย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C3AED"/>
                </a:solidFill>
                <a:latin typeface="Sarabun"/>
              </a:defRPr>
            </a:pPr>
            <a:r>
              <a:t>5. กลไก AI ส่วนที่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arabun"/>
              </a:defRPr>
            </a:pPr>
            <a:r>
              <a:t>ระบบยืนยันตัวตนด้วยใบหน้าชีวมิติ (Face Biometric Verification)</a:t>
            </a:r>
          </a:p>
          <a:p>
            <a:pPr>
              <a:defRPr sz="1200">
                <a:solidFill>
                  <a:srgbClr val="475569"/>
                </a:solidFill>
                <a:latin typeface="Sarabun"/>
              </a:defRPr>
            </a:pPr>
            <a:r>
              <a:t>กระบวนการตรวจสอบอัตลักษณ์บุคคลผ่านภาพถ่ายจากกล้องเว็บแคม เพื่อความปลอดภัยสูงสุด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arabun"/>
              </a:defRPr>
            </a:pPr>
            <a:r>
              <a:t>TutorMatch AI  |  สถาปัตยกรรมระบบและแนวคิดการออกแบบ (Concept &amp; Architecture)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4688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bIns="182880" lIns="182880" r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563EB"/>
                </a:solidFill>
                <a:latin typeface="Sarabun"/>
              </a:defRPr>
            </a:pPr>
            <a:r>
              <a:t>📷 Step 1: Capture &amp; Decode</a:t>
            </a:r>
          </a:p>
          <a:p>
            <a:pPr>
              <a:defRPr sz="1100">
                <a:solidFill>
                  <a:srgbClr val="475569"/>
                </a:solidFill>
                <a:latin typeface="Sarabun"/>
              </a:defRPr>
            </a:pPr>
            <a:r>
              <a:t>รับภาพสดจากกล้อง WebRTC บน LINE LIFF ส่งมายัง API ในรูปแบบ JPEG/Base64 และ Decode เข้าสู่หน่วยความจำ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4688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bIns="182880" lIns="182880" r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7C3AED"/>
                </a:solidFill>
                <a:latin typeface="Sarabun"/>
              </a:defRPr>
            </a:pPr>
            <a:r>
              <a:t>🔍 Step 2: Face Detection</a:t>
            </a:r>
          </a:p>
          <a:p>
            <a:pPr>
              <a:defRPr sz="1100">
                <a:solidFill>
                  <a:srgbClr val="475569"/>
                </a:solidFill>
                <a:latin typeface="Sarabun"/>
              </a:defRPr>
            </a:pPr>
            <a:r>
              <a:t>ใช้ Haar Cascade Classifier ตรวจจับพิกัดใบหน้า หากพบหลายใบหน้าจะคัดเลือกเฉพาะใบหน้าที่ใหญ่และใกล้กล้องที่สุด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4688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bIns="182880" lIns="182880" r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4F46E5"/>
                </a:solidFill>
                <a:latin typeface="Sarabun"/>
              </a:defRPr>
            </a:pPr>
            <a:r>
              <a:t>✂️ Step 3: Normalize &amp; Crop</a:t>
            </a:r>
          </a:p>
          <a:p>
            <a:pPr>
              <a:defRPr sz="1100">
                <a:solidFill>
                  <a:srgbClr val="475569"/>
                </a:solidFill>
                <a:latin typeface="Sarabun"/>
              </a:defRPr>
            </a:pPr>
            <a:r>
              <a:t>ตัดครอบเฉพาะกรอบใบหน้า (Face Crop) ปรับขนาดเป็นมาตรฐาน 150x150 pixels และแปลงเป็นภาพขาวดำ (Grayscale)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4688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bIns="182880" lIns="182880" r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59669"/>
                </a:solidFill>
                <a:latin typeface="Sarabun"/>
              </a:defRPr>
            </a:pPr>
            <a:r>
              <a:t>✅ Step 4: LBPH Verification</a:t>
            </a:r>
          </a:p>
          <a:p>
            <a:pPr>
              <a:defRPr sz="1100">
                <a:solidFill>
                  <a:srgbClr val="475569"/>
                </a:solidFill>
                <a:latin typeface="Sarabun"/>
              </a:defRPr>
            </a:pPr>
            <a:r>
              <a:t>สกัด Local Binary Patterns Histograms เปรียบเทียบกับเทมเพลตที่ลงทะเบียนไว้ หากค่า Distance &lt; 75.0 ถือว่าผ่าน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63440"/>
            <a:ext cx="10698480" cy="1463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300" b="1">
                <a:solidFill>
                  <a:srgbClr val="7C3AED"/>
                </a:solidFill>
                <a:latin typeface="Sarabun"/>
              </a:defRPr>
            </a:pPr>
            <a:r>
              <a:t>💡 จุดเด่นทางเทคนิคของโมเดล LBPH (Local Binary Patterns Histograms)</a:t>
            </a:r>
          </a:p>
          <a:p>
            <a:pPr>
              <a:defRPr sz="1050">
                <a:solidFill>
                  <a:srgbClr val="0F172A"/>
                </a:solidFill>
                <a:latin typeface="Sarabun"/>
              </a:defRPr>
            </a:pPr>
            <a:r>
              <a:t>• ทนทานต่อการเปลี่ยนแปลงของแสง (Illumination Invariance): การเปรียบเทียบพิกัดแบบ Local Texture ทำให้ทำงานได้ดีแม้สภาพแสงในห้องจะเปลี่ยนแปลง</a:t>
            </a:r>
            <a:br/>
            <a:r>
              <a:t>• น้ำหนักเบาและประมวลผลเร็ว (Real-time Efficiency): สามารถ Train และ Predict เทมเพลตใบหน้าได้ภายในเสี้ยววินาทีบน Server ทรัพยากรปกติ ไม่จำเป็นต้องใช้ GPU ขนาดใหญ่</a:t>
            </a:r>
            <a:br/>
            <a:r>
              <a:t>• ความปลอดภัยของข้อมูล (Privacy by Design): ข้อมูลที่บันทึกคือรูปแบบการกระจายพิกเซล ไม่สามารถย้อนกลับมาเป็นภาพถ่ายส่วนตัวของผู้ใช้ได้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C3AED"/>
                </a:solidFill>
                <a:latin typeface="Sarabun"/>
              </a:defRPr>
            </a:pPr>
            <a:r>
              <a:t>6. กลไก AI ส่วนที่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arabun"/>
              </a:defRPr>
            </a:pPr>
            <a:r>
              <a:t>ระบบวิเคราะห์จับคู่ติวเตอร์อัจฉริยะ (Semantic Tutor Matching Engine)</a:t>
            </a:r>
          </a:p>
          <a:p>
            <a:pPr>
              <a:defRPr sz="1200">
                <a:solidFill>
                  <a:srgbClr val="475569"/>
                </a:solidFill>
                <a:latin typeface="Sarabun"/>
              </a:defRPr>
            </a:pPr>
            <a:r>
              <a:t>สถาปัตยกรรมการจับคู่แบบ 2 ขั้นตอน (Two-Stage Matching) ที่ผสานเกณฑ์บังคับและการวิเคราะห์เชิงความหมาย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arabun"/>
              </a:defRPr>
            </a:pPr>
            <a:r>
              <a:t>TutorMatch AI  |  สถาปัตยกรรมระบบและแนวคิดการออกแบบ (Concept &amp; Architecture)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7315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466344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97706"/>
                </a:solidFill>
                <a:latin typeface="Sarabun"/>
              </a:defRPr>
            </a:pPr>
            <a:r>
              <a:t>⚖️  Stage 1: Hard Filtering (เกณฑ์บังคับ)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การคัดกรองรายวิชา (Subject Filter): </a:t>
            </a:r>
            <a:r>
              <a:t>หากผู้เรียนระบุวิชาหลักที่เจาะจง (เช่น 'ฟิสิกส์') ระบบจะคัดกรองเฉพาะติวเตอร์ที่มีรายวิชานี้ในโปรไฟล์เท่านั้น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การจำกัดเพดานงบประมาณ (Budget Constraint): </a:t>
            </a:r>
            <a:r>
              <a:t>คัดกรองติวเตอร์ที่มีอัตราค่าสอนต่อชั่วโมงไม่เกินงบประมาณที่ผู้เรียนระบุ (Price per hour &lt;= Budget)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ผลลัพธ์ของ Stage 1: </a:t>
            </a:r>
            <a:r>
              <a:t>ตัดติวเตอร์ที่ไม่ตรงกับเงื่อนไขพื้นฐานออกทันที ลดภาระในการคำนวณ และรับประกันว่าจะได้ติวเตอร์ที่อยู่ในงบประมาณแน่นอน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645920"/>
            <a:ext cx="5120640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28800"/>
            <a:ext cx="466344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4F46E5"/>
                </a:solidFill>
                <a:latin typeface="Sarabun"/>
              </a:defRPr>
            </a:pPr>
            <a:r>
              <a:t>🎯  Stage 2: Soft &amp; Semantic Scoring (คะแนนความเข้ากันได้)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Thai Word Tokenization: </a:t>
            </a:r>
            <a:r>
              <a:t>ใช้ PyThaiNLP ตัดคำจากข้อความความต้องการของผู้เรียน และประวัติ ความถนัด สไตล์การสอนของติวเตอร์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TF-IDF Vectorization: </a:t>
            </a:r>
            <a:r>
              <a:t>คำนวณความถี่และค่าน้ำหนักความสำคัญของคำศัพท์ (TF) เทียบกับคลังเอกสารทั้งหมด (IDF) เพื่อสร้างเวกเตอร์หลายมิติ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Cosine Similarity Calculation: </a:t>
            </a:r>
            <a:r>
              <a:t>คำนวณค่า Cosine ของมุมระหว่างเวกเตอร์ผู้เรียนและติวเตอร์ เพื่อหาความใกล้เคียงกันทางความหมาย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Matching Score Normalization: </a:t>
            </a:r>
            <a:r>
              <a:t>แปลงผลลัพธ์เป็นเปอร์เซ็นต์ (0 - 100%) หากมีวิชาตรงจะได้รับ Bonus Boost และเรียงลำดับติวเตอร์จากคะแนนสูงสุด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C3AED"/>
                </a:solidFill>
                <a:latin typeface="Sarabun"/>
              </a:defRPr>
            </a:pPr>
            <a:r>
              <a:t>7. กระบวนการใช้งาน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arabun"/>
              </a:defRPr>
            </a:pPr>
            <a:r>
              <a:t>เส้นทางการใช้งานสำหรับผู้สอน / ติวเตอร์ (Tutor Journey Flow)</a:t>
            </a:r>
          </a:p>
          <a:p>
            <a:pPr>
              <a:defRPr sz="1200">
                <a:solidFill>
                  <a:srgbClr val="475569"/>
                </a:solidFill>
                <a:latin typeface="Sarabun"/>
              </a:defRPr>
            </a:pPr>
            <a:r>
              <a:t>ขั้นตอนที่สะดวก รวดเร็ว และปลอดภัยสำหรับติวเตอร์ในการลงทะเบียนและเปิดรับสอน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arabun"/>
              </a:defRPr>
            </a:pPr>
            <a:r>
              <a:t>TutorMatch AI  |  สถาปัตยกรรมระบบและแนวคิดการออกแบบ (Concept &amp; Architecture)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965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0" lIns="137160" r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F172A"/>
                </a:solidFill>
                <a:latin typeface="Sarabun"/>
              </a:defRPr>
            </a:pPr>
            <a:r>
              <a:t>📝 1. สมัครสมาชิกติวเตอร์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กรอก Username และชื่อ-นามสกุลจริง เลือกประเภทบัญชีเป็น 'ติวเตอร์ (Tutor)'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96596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arabun"/>
              </a:defRPr>
            </a:pPr>
            <a:r>
              <a:t>STEP 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2072" y="1645920"/>
            <a:ext cx="1965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0" lIns="137160" r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F172A"/>
                </a:solidFill>
                <a:latin typeface="Sarabun"/>
              </a:defRPr>
            </a:pPr>
            <a:r>
              <a:t>📸 2. สแกนบันทึกใบหน้า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เปิดกล้องเว็บแคมผ่านระบบ จัดใบหน้าให้อยู่ในกรอบ แล้วกด 'บันทึกรูปเพื่อลงทะเบียนใบหน้า'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62072" y="1645920"/>
            <a:ext cx="196596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arabun"/>
              </a:defRPr>
            </a:pPr>
            <a:r>
              <a:t>STEP 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92624" y="1645920"/>
            <a:ext cx="1965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0" lIns="137160" r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F172A"/>
                </a:solidFill>
                <a:latin typeface="Sarabun"/>
              </a:defRPr>
            </a:pPr>
            <a:r>
              <a:t>🔑 3. สแกนใบหน้าเพื่อ Login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กรอก Username และกดสแกนใบหน้า ระบบจะยืนยันตัวตนชีวมิติและเข้าสู่ระบบทันที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92624" y="1645920"/>
            <a:ext cx="1965960" cy="5486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arabun"/>
              </a:defRPr>
            </a:pPr>
            <a:r>
              <a:t>STEP 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23176" y="1645920"/>
            <a:ext cx="1965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0" lIns="137160" r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F172A"/>
                </a:solidFill>
                <a:latin typeface="Sarabun"/>
              </a:defRPr>
            </a:pPr>
            <a:r>
              <a:t>📋 4. บันทึกข้อมูลโปรไฟล์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กรอกวิชาที่สอน, ความเชี่ยวชาญ, สไตล์การสอน, เรทราคา, พร้อม LINE ID และเบอร์โทรศัพท์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23176" y="1645920"/>
            <a:ext cx="1965960" cy="548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arabun"/>
              </a:defRPr>
            </a:pPr>
            <a:r>
              <a:t>STEP 04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53728" y="1645920"/>
            <a:ext cx="1965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0" lIns="137160" r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F172A"/>
                </a:solidFill>
                <a:latin typeface="Sarabun"/>
              </a:defRPr>
            </a:pPr>
            <a:r>
              <a:t>🎓 5. รับคำขอนัดหมายและสอน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รับแจ้งเตือนเมื่อมีนักเรียนจองเวลาเรียน ตรวจสอบตารางนัดหมาย และติดต่อผ่าน 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53728" y="1645920"/>
            <a:ext cx="1965960" cy="548640"/>
          </a:xfrm>
          <a:prstGeom prst="round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arabun"/>
              </a:defRPr>
            </a:pPr>
            <a:r>
              <a:t>STEP 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C3AED"/>
                </a:solidFill>
                <a:latin typeface="Sarabun"/>
              </a:defRPr>
            </a:pPr>
            <a:r>
              <a:t>8. กระบวนการใช้งาน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arabun"/>
              </a:defRPr>
            </a:pPr>
            <a:r>
              <a:t>เส้นทางการใช้งานสำหรับผู้เรียนและผู้ปกครอง (Student Journey Flow)</a:t>
            </a:r>
          </a:p>
          <a:p>
            <a:pPr>
              <a:defRPr sz="1200">
                <a:solidFill>
                  <a:srgbClr val="475569"/>
                </a:solidFill>
                <a:latin typeface="Sarabun"/>
              </a:defRPr>
            </a:pPr>
            <a:r>
              <a:t>ค้นหาติวเตอร์ที่ตรงสไตล์และงบประมาณได้อย่างแม่นยำ ผ่านกระบวนการที่เป็นมิตรกับผู้ใช้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arabun"/>
              </a:defRPr>
            </a:pPr>
            <a:r>
              <a:t>TutorMatch AI  |  สถาปัตยกรรมระบบและแนวคิดการออกแบบ (Concept &amp; Architecture)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965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0" lIns="137160" r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F172A"/>
                </a:solidFill>
                <a:latin typeface="Sarabun"/>
              </a:defRPr>
            </a:pPr>
            <a:r>
              <a:t>👤 1. ลงทะเบียนและสแกนใบหน้า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สมัครสมาชิก เลือกบทบาท 'ผู้เรียน' และสแกนใบหน้าเพื่อความปลอดภัยและยืนยันตัวตน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96596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arabun"/>
              </a:defRPr>
            </a:pPr>
            <a:r>
              <a:t>STEP 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2072" y="1645920"/>
            <a:ext cx="1965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0" lIns="137160" r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F172A"/>
                </a:solidFill>
                <a:latin typeface="Sarabun"/>
              </a:defRPr>
            </a:pPr>
            <a:r>
              <a:t>✍️ 2. ระบุความต้องการภาษาไทย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พิมพ์ความต้องการอิสระ เช่น 'อยากได้พี่ใจดี สอนฟิสิกส์ ม.ปลาย เน้นปูพื้นฐานทำเกรด'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62072" y="1645920"/>
            <a:ext cx="1965960" cy="5486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arabun"/>
              </a:defRPr>
            </a:pPr>
            <a:r>
              <a:t>STEP 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92624" y="1645920"/>
            <a:ext cx="1965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0" lIns="137160" r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F172A"/>
                </a:solidFill>
                <a:latin typeface="Sarabun"/>
              </a:defRPr>
            </a:pPr>
            <a:r>
              <a:t>⚙️ 3. กำหนดตัวกรอง (Filters)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ระบุวิชาหลักที่เจาะจง (เช่น ฟิสิกส์) และกำหนดงบประมาณต่อชั่วโมงสูงสุด (เช่น 300 บาท)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92624" y="1645920"/>
            <a:ext cx="1965960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arabun"/>
              </a:defRPr>
            </a:pPr>
            <a:r>
              <a:t>STEP 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23176" y="1645920"/>
            <a:ext cx="1965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0" lIns="137160" r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F172A"/>
                </a:solidFill>
                <a:latin typeface="Sarabun"/>
              </a:defRPr>
            </a:pPr>
            <a:r>
              <a:t>📊 4. ดูผลลัพธ์ AI Matching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ระบบแสดงคะแนนความเข้ากันได้ เช่น 'AI Match: 94.2%' พร้อมประวัติและสไตล์ของติวเตอร์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23176" y="1645920"/>
            <a:ext cx="196596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arabun"/>
              </a:defRPr>
            </a:pPr>
            <a:r>
              <a:t>STEP 04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53728" y="1645920"/>
            <a:ext cx="1965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0" lIns="137160" r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F172A"/>
                </a:solidFill>
                <a:latin typeface="Sarabun"/>
              </a:defRPr>
            </a:pPr>
            <a:r>
              <a:t>🤝 5. ติดต่อนัดหมายเรียน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กดทักแชทผ่าน LINE OA โดยตรง หรือส่งคำขอนัดหมายวันเวลาเรียนผ่านระบบอย่างเป็นทางการ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53728" y="1645920"/>
            <a:ext cx="1965960" cy="548640"/>
          </a:xfrm>
          <a:prstGeom prst="round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arabun"/>
              </a:defRPr>
            </a:pPr>
            <a:r>
              <a:t>STEP 05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C3AED"/>
                </a:solidFill>
                <a:latin typeface="Sarabun"/>
              </a:defRPr>
            </a:pPr>
            <a:r>
              <a:t>9. การสื่อสารและการนัดหมาย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arabun"/>
              </a:defRPr>
            </a:pPr>
            <a:r>
              <a:t>ระบบการนัดหมายและการติดต่อสื่อสาร 2 ช่องทาง (Dual Communication Channels)</a:t>
            </a:r>
          </a:p>
          <a:p>
            <a:pPr>
              <a:defRPr sz="1200">
                <a:solidFill>
                  <a:srgbClr val="475569"/>
                </a:solidFill>
                <a:latin typeface="Sarabun"/>
              </a:defRPr>
            </a:pPr>
            <a:r>
              <a:t>มอบความยืดหยุ่นสูงสุดด้วยการประสานระหว่าง LINE Chat และ In-App Scheduler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arabun"/>
              </a:defRPr>
            </a:pPr>
            <a:r>
              <a:t>TutorMatch AI  |  สถาปัตยกรรมระบบและแนวคิดการออกแบบ (Concept &amp; Architecture)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73152"/>
          </a:xfrm>
          <a:prstGeom prst="round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466344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C755"/>
                </a:solidFill>
                <a:latin typeface="Sarabun"/>
              </a:defRPr>
            </a:pPr>
            <a:r>
              <a:t>💬  ช่องทางที่ 1: Direct LINE OA Chat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ทักแชททันทีด้วยคลิกเดียว: </a:t>
            </a:r>
            <a:r>
              <a:t>มีปุ่ม 'ทักทาง LINE' เชื่อมต่อไปยัง LINE Official Account ของติวเตอร์ทันที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สอดคล้องกับพฤติกรรมคนไทย: </a:t>
            </a:r>
            <a:r>
              <a:t>ผู้เรียนและผู้ปกครองคุ้นเคยกับการสอบถามรายละเอียด พูดคุยเบื้องต้นผ่าน LINE แชท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ส่งไฟล์เอกสารและภาพประกอบ: </a:t>
            </a:r>
            <a:r>
              <a:t>ติวเตอร์สามารถส่งตัวอย่างเอกสารการสอน แผนการเรียน หรือรูปภาพผลงานการสอนผ่านแชทได้โดยตรง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การแจ้งเตือน Real-time: </a:t>
            </a:r>
            <a:r>
              <a:t>ระบบสามารถส่ง Push Notification ผ่าน LINE เมื่อมีข้อความหรือคำขอใหม่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645920"/>
            <a:ext cx="512064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28800"/>
            <a:ext cx="466344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7C3AED"/>
                </a:solidFill>
                <a:latin typeface="Sarabun"/>
              </a:defRPr>
            </a:pPr>
            <a:r>
              <a:t>📅  ช่องทางที่ 2: In-App Appointment System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เลือกวันและเวลาเรียนที่ต้องการ: </a:t>
            </a:r>
            <a:r>
              <a:t>แบบฟอร์มให้ระบุวันที่ (YYYY-MM-DD) และช่วงเวลาเรียน (เช่น '13:00 - 15:00')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ระบุหัวข้อที่ต้องการเรียน (Notes): </a:t>
            </a:r>
            <a:r>
              <a:t>ผู้เรียนสามารถเขียนระบุเรื่องที่อยากเน้น เช่น 'ติวสอบกลางภาคบทการเคลื่อนที่'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ระบบจัดการสถานะคำขอ (Status Flow): </a:t>
            </a:r>
            <a:r>
              <a:t>คำขอจะเริ่มจาก 'Pending' เพื่อรอให้ติวเตอร์กดยืนยัน (Approved) หรือปฏิเสธ (Declined)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ตารางนัดหมายส่วนตัว (Dashboard): </a:t>
            </a:r>
            <a:r>
              <a:t>แสดงการ์ดรายการนัดหมายทั้งหมดของผู้เรียนและติวเตอร์ในหน้าจอแบบ Real-time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C3AED"/>
                </a:solidFill>
                <a:latin typeface="Sarabun"/>
              </a:defRPr>
            </a:pPr>
            <a:r>
              <a:t>10. การออกแบบฐานข้อมูล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arabun"/>
              </a:defRPr>
            </a:pPr>
            <a:r>
              <a:t>โมเดลข้อมูลและความสัมพันธ์ของฐานข้อมูล (Data Models &amp; Schemas)</a:t>
            </a:r>
          </a:p>
          <a:p>
            <a:pPr>
              <a:defRPr sz="1200">
                <a:solidFill>
                  <a:srgbClr val="475569"/>
                </a:solidFill>
                <a:latin typeface="Sarabun"/>
              </a:defRPr>
            </a:pPr>
            <a:r>
              <a:t>โครงสร้างฐานข้อมูลเชิงสัมพันธ์ที่มีประสิทธิภาพ เชื่อมโยงข้อมูลผู้ใช้ ชีวมิติ และการนัดหมาย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arabun"/>
              </a:defRPr>
            </a:pPr>
            <a:r>
              <a:t>TutorMatch AI  |  สถาปัตยกรรมระบบและแนวคิดการออกแบบ (Concept &amp; Architecture)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0" lIns="137160" rIns="137160"/>
          <a:lstStyle/>
          <a:p>
            <a:pPr algn="ctr">
              <a:spcAft>
                <a:spcPts val="400"/>
              </a:spcAft>
              <a:defRPr sz="1000">
                <a:solidFill>
                  <a:srgbClr val="475569"/>
                </a:solidFill>
                <a:latin typeface="Sarabun"/>
              </a:defRPr>
            </a:pPr>
            <a:r>
              <a:t>• id: Integer (Primary Key)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arabun"/>
              </a:defRPr>
            </a:pPr>
            <a:r>
              <a:t>• username: String (Unique)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arabun"/>
              </a:defRPr>
            </a:pPr>
            <a:r>
              <a:t>• name: String (ชื่อ-นามสกุลจริง)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arabun"/>
              </a:defRPr>
            </a:pPr>
            <a:r>
              <a:t>• role: String ('student' / 'tutor')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arabun"/>
              </a:defRPr>
            </a:pPr>
            <a:r>
              <a:t>• line_id: String (LINE User ID)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arabun"/>
              </a:defRPr>
            </a:pPr>
            <a:r>
              <a:t>• registered_at: DateTime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46888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arabun"/>
              </a:defRPr>
            </a:pPr>
            <a:r>
              <a:t>👤 User (ตารางผู้ใช้หลัก)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0" lIns="137160" rIns="137160"/>
          <a:lstStyle/>
          <a:p>
            <a:pPr algn="ctr">
              <a:spcAft>
                <a:spcPts val="400"/>
              </a:spcAft>
              <a:defRPr sz="1000">
                <a:solidFill>
                  <a:srgbClr val="475569"/>
                </a:solidFill>
                <a:latin typeface="Sarabun"/>
              </a:defRPr>
            </a:pPr>
            <a:r>
              <a:t>• id: Integer (Primary Key)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arabun"/>
              </a:defRPr>
            </a:pPr>
            <a:r>
              <a:t>• user_id: ForeignKey('users.id')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arabun"/>
              </a:defRPr>
            </a:pPr>
            <a:r>
              <a:t>• face_landmarks: Text (Base64 JPEG)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arabun"/>
              </a:defRPr>
            </a:pPr>
            <a:r>
              <a:t>• updated_at: DateTime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arabun"/>
              </a:defRPr>
            </a:pPr>
            <a:r>
              <a:t>• One-to-One Cascade กับ User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arabun"/>
              </a:defRPr>
            </a:pPr>
            <a:r>
              <a:t>• ใช้สำหรับสแกนเปรียบเทียบ LBPH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45920"/>
            <a:ext cx="246888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arabun"/>
              </a:defRPr>
            </a:pPr>
            <a:r>
              <a:t>🔒 BiometricProfile (ข้อมูลใบหน้า)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0" lIns="137160" rIns="137160"/>
          <a:lstStyle/>
          <a:p>
            <a:pPr algn="ctr">
              <a:spcAft>
                <a:spcPts val="400"/>
              </a:spcAft>
              <a:defRPr sz="1000">
                <a:solidFill>
                  <a:srgbClr val="475569"/>
                </a:solidFill>
                <a:latin typeface="Sarabun"/>
              </a:defRPr>
            </a:pPr>
            <a:r>
              <a:t>• id: Integer (Primary Key)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arabun"/>
              </a:defRPr>
            </a:pPr>
            <a:r>
              <a:t>• user_id: ForeignKey('users.id')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arabun"/>
              </a:defRPr>
            </a:pPr>
            <a:r>
              <a:t>• education, subjects, expertise: Text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arabun"/>
              </a:defRPr>
            </a:pPr>
            <a:r>
              <a:t>• teaching_style, availability: String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arabun"/>
              </a:defRPr>
            </a:pPr>
            <a:r>
              <a:t>• price_per_hour: Integer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arabun"/>
              </a:defRPr>
            </a:pPr>
            <a:r>
              <a:t>• contact_line, contact_phone, email: String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arabun"/>
              </a:defRPr>
            </a:pPr>
            <a:r>
              <a:t>• appointment_instruction: 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45920"/>
            <a:ext cx="2468880" cy="5486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arabun"/>
              </a:defRPr>
            </a:pPr>
            <a:r>
              <a:t>👨‍🏫 TutorProfile (ข้อมูลผู้สอน)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85800" lIns="137160" rIns="137160"/>
          <a:lstStyle/>
          <a:p>
            <a:pPr algn="ctr">
              <a:spcAft>
                <a:spcPts val="400"/>
              </a:spcAft>
              <a:defRPr sz="1000">
                <a:solidFill>
                  <a:srgbClr val="475569"/>
                </a:solidFill>
                <a:latin typeface="Sarabun"/>
              </a:defRPr>
            </a:pPr>
            <a:r>
              <a:t>• id: Integer (Primary Key)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arabun"/>
              </a:defRPr>
            </a:pPr>
            <a:r>
              <a:t>• student_id: ForeignKey('users.id')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arabun"/>
              </a:defRPr>
            </a:pPr>
            <a:r>
              <a:t>• tutor_id: ForeignKey('users.id')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arabun"/>
              </a:defRPr>
            </a:pPr>
            <a:r>
              <a:t>• appointment_date: String (YYYY-MM-DD)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arabun"/>
              </a:defRPr>
            </a:pPr>
            <a:r>
              <a:t>• appointment_time: String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arabun"/>
              </a:defRPr>
            </a:pPr>
            <a:r>
              <a:t>• notes: Text (หัวข้อการเรียน)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arabun"/>
              </a:defRPr>
            </a:pPr>
            <a:r>
              <a:t>• status: 'pending'/'approved'/'declined'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645920"/>
            <a:ext cx="2468880" cy="548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arabun"/>
              </a:defRPr>
            </a:pPr>
            <a:r>
              <a:t>📅 Appointment (ตารางการนัดหมาย)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C3AED"/>
                </a:solidFill>
                <a:latin typeface="Sarabun"/>
              </a:defRPr>
            </a:pPr>
            <a:r>
              <a:t>11. แผนการพัฒนาระบบ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arabun"/>
              </a:defRPr>
            </a:pPr>
            <a:r>
              <a:t>แผนงานและขั้นตอนการพัฒนาระบบ 4 ระยะ (Development Roadmap)</a:t>
            </a:r>
          </a:p>
          <a:p>
            <a:pPr>
              <a:defRPr sz="1200">
                <a:solidFill>
                  <a:srgbClr val="475569"/>
                </a:solidFill>
                <a:latin typeface="Sarabun"/>
              </a:defRPr>
            </a:pPr>
            <a:r>
              <a:t>กระบวนการพัฒนาอย่างเป็นขั้นตอน จากโครงสร้างพื้นฐานสู่ระบบที่พร้อมใช้งานจริง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arabun"/>
              </a:defRPr>
            </a:pPr>
            <a:r>
              <a:t>TutorMatch AI  |  สถาปัตยกรรมระบบและแนวคิดการออกแบบ (Concept &amp; Architecture)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645920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arabun"/>
              </a:defRPr>
            </a:pPr>
            <a:r>
              <a:t>⚙️</a:t>
            </a:r>
            <a:br/>
            <a:r>
              <a:t>Phase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737360"/>
            <a:ext cx="8686800" cy="8229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arabun"/>
              </a:defRPr>
            </a:pPr>
            <a:r>
              <a:t>Project Foundation &amp; Environment Setup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ติดตั้ง Environment, กำหนดค่า FastAPI, SQLite/PostgreSQL Database, ติดตั้ง PyThaiNLP, OpenCV และเชื่อมต่อกับ LINE Developer Console สร้าง Webhook API และ LIFF App 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1645920" cy="10058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arabun"/>
              </a:defRPr>
            </a:pPr>
            <a:r>
              <a:t>🔒</a:t>
            </a:r>
            <a:br/>
            <a:r>
              <a:t>Phase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880360"/>
            <a:ext cx="8686800" cy="8229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300" b="1">
                <a:solidFill>
                  <a:srgbClr val="7C3AED"/>
                </a:solidFill>
                <a:latin typeface="Sarabun"/>
              </a:defRPr>
            </a:pPr>
            <a:r>
              <a:t>Biometric Security &amp; Camera Integration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พัฒนาหน้าจอเว็บแอป LIFF เข้าถึงกล้อง WebRTC บนอุปกรณ์มือถือและเบราว์เซอร์ พัฒนาโมเดล Haar Cascade และ LBPH สำหรับการบันทึกภาพและเปรียบเทียบใบหน้ายืนยันตัวตน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1645920" cy="10058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arabun"/>
              </a:defRPr>
            </a:pPr>
            <a:r>
              <a:t>🧠</a:t>
            </a:r>
            <a:br/>
            <a:r>
              <a:t>Phase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023360"/>
            <a:ext cx="8686800" cy="8229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Sarabun"/>
              </a:defRPr>
            </a:pPr>
            <a:r>
              <a:t>Tutor Profile System &amp; NLP Pipeline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สร้างแบบฟอร์มลงทะเบียนประวัติ ความถนัด และสไตล์การสอนของติวเตอร์ พัฒนา Pipeline การตัดคำภาษาไทยด้วย PyThaiNLP และคำนวณเวกเตอร์ความเชี่ยวชาญเก็บลงฐานข้อมูล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7492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5074920"/>
            <a:ext cx="1645920" cy="10058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arabun"/>
              </a:defRPr>
            </a:pPr>
            <a:r>
              <a:t>🚀</a:t>
            </a:r>
            <a:br/>
            <a:r>
              <a:t>Phase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5166360"/>
            <a:ext cx="8686800" cy="8229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Sarabun"/>
              </a:defRPr>
            </a:pPr>
            <a:r>
              <a:t>AI Matching Engine &amp; Dual Communication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พัฒนาระบบคำนวณ TF-IDF &amp; Cosine Similarity, ตัวกรองราคาและวิชา, การส่ง Flex Message และระบบจองนัดหมายเวลาเรียน พร้อมทดสอบ End-to-End Test ครบวงจร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C3AED"/>
                </a:solidFill>
                <a:latin typeface="Sarabun"/>
              </a:defRPr>
            </a:pPr>
            <a:r>
              <a:t>12. คุณค่าและประโยชน์ของระบบ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arabun"/>
              </a:defRPr>
            </a:pPr>
            <a:r>
              <a:t>ประโยชน์ที่ได้รับและการเปรียบเทียบ (Business Value &amp; Impact)</a:t>
            </a:r>
          </a:p>
          <a:p>
            <a:pPr>
              <a:defRPr sz="1200">
                <a:solidFill>
                  <a:srgbClr val="475569"/>
                </a:solidFill>
                <a:latin typeface="Sarabun"/>
              </a:defRPr>
            </a:pPr>
            <a:r>
              <a:t>ยกระดับประสบการณ์การเรียนการสอนพิเศษนอกห้องเรียนอย่างเห็นได้ชัด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arabun"/>
              </a:defRPr>
            </a:pPr>
            <a:r>
              <a:t>TutorMatch AI  |  สถาปัตยกรรมระบบและแนวคิดการออกแบบ (Concept &amp; Architecture)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29184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283464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63EB"/>
                </a:solidFill>
                <a:latin typeface="Sarabun"/>
              </a:defRPr>
            </a:pPr>
            <a:r>
              <a:t>🎓  ประโยชน์สำหรับผู้เรียน &amp; ผู้ปกครอง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ได้ติวเตอร์ที่ตรงสไตล์จริง: </a:t>
            </a:r>
            <a:r>
              <a:t>ค้นพบผู้สอนที่มีสไตล์ตรงกับตนเอง เช่น สอนช้าๆ ปูพื้นฐาน หรือเน้นลุยโจทย์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ประหยัดค่าใช้จ่ายและเวลา: </a:t>
            </a:r>
            <a:r>
              <a:t>ระบบกรองงบประมาณตั้งแต่แรก และลดการเสียเงินทดลองเรียนกับติวเตอร์ที่ไม่ใช่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ความปลอดภัยและความมั่นใจ: </a:t>
            </a:r>
            <a:r>
              <a:t>ติวเตอร์ทุกคนผ่านการยืนยันตัวตนด้วยใบหน้าชีวมิติ ปลอดภัยสูงสุด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ใช้งานง่ายบนมือถือ: </a:t>
            </a:r>
            <a:r>
              <a:t>ไม่ต้องโหลดแอปเพิ่ม เข้าถึงผ่าน LINE ที่ใช้งานอยู่แล้วในชีวิตประจำวัน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1645920"/>
            <a:ext cx="329184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28800"/>
            <a:ext cx="283464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7C3AED"/>
                </a:solidFill>
                <a:latin typeface="Sarabun"/>
              </a:defRPr>
            </a:pPr>
            <a:r>
              <a:t>👨‍🏫  ประโยชน์สำหรับติวเตอร์ / ผู้สอน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เจอนักเรียนที่ตรงกับความถนัด: </a:t>
            </a:r>
            <a:r>
              <a:t>AI จะแนะนำติวเตอร์ให้นักเรียนที่ต้องการสไตล์การสอนนั้นๆ โดยเฉพาะ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สร้างความน่าเชื่อถือระดับสูง: </a:t>
            </a:r>
            <a:r>
              <a:t>การมีโปรไฟล์ที่ผ่านการตรวจสอบใบหน้า ช่วยเพิ่มความไว้วางใจจากผู้ปกครอง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จัดการตารางเรียนมีประสิทธิภาพ: </a:t>
            </a:r>
            <a:r>
              <a:t>มีระบบรับคำขอนัดหมาย ตรวจสอบสถานะ และนัดวันเวลาเรียนอย่างเป็นระบบ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ช่องทางติดต่อตรงผ่าน LINE: </a:t>
            </a:r>
            <a:r>
              <a:t>สามารถคุยรายละเอียดคอร์สเรียนกับนักเรียนได้สะดวกรวดเร็ว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1645920"/>
            <a:ext cx="3291840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828800"/>
            <a:ext cx="283464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59669"/>
                </a:solidFill>
                <a:latin typeface="Sarabun"/>
              </a:defRPr>
            </a:pPr>
            <a:r>
              <a:t>📈  เปรียบเทียบ Before vs After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การค้นหาติวเตอร์: </a:t>
            </a:r>
            <a:r>
              <a:t>เดิม: เลื่อนหาตามป้ายประกาศหรือโพสต์โซเชียล
ใหม่: AI แนะนำติวเตอร์ที่เหมาะสมที่สุดทันที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การตรวจสอบตัวตน: </a:t>
            </a:r>
            <a:r>
              <a:t>เดิม: ไม่มีระบบยืนยัน เสี่ยงถูกสวมรอย
ใหม่: บังคับ Face ID ป้องกันการแอบอ้าง 100%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Sarabun"/>
              </a:defRPr>
            </a:pPr>
            <a:r>
              <a:rPr b="1">
                <a:solidFill>
                  <a:srgbClr val="0F172A"/>
                </a:solidFill>
              </a:rPr>
              <a:t>• การประสานงาน: </a:t>
            </a:r>
            <a:r>
              <a:t>เดิม: ติดต่อผ่านเบอร์โทรศัพท์ ตกหล่นง่าย
ใหม่: นัดหมายในระบบ และทักแชทผ่าน LINE OA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C3AED"/>
                </a:solidFill>
                <a:latin typeface="Sarabun"/>
              </a:defRPr>
            </a:pPr>
            <a:r>
              <a:t>13. การต่อยอดในอนาคต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arabun"/>
              </a:defRPr>
            </a:pPr>
            <a:r>
              <a:t>ทิศทางการพัฒนาต่อยอดสู่ระดับ Enterprise (Future Roadmap)</a:t>
            </a:r>
          </a:p>
          <a:p>
            <a:pPr>
              <a:defRPr sz="1200">
                <a:solidFill>
                  <a:srgbClr val="475569"/>
                </a:solidFill>
                <a:latin typeface="Sarabun"/>
              </a:defRPr>
            </a:pPr>
            <a:r>
              <a:t>แนวทางการขยายขีดความสามารถของระบบด้วยเทคโนโลยี AI ระดับแนวหน้า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arabun"/>
              </a:defRPr>
            </a:pPr>
            <a:r>
              <a:t>TutorMatch AI  |  สถาปัตยกรรมระบบและแนวคิดการออกแบบ (Concept &amp; Architecture)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9728" cy="20574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4663440" cy="1783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7C3AED"/>
                </a:solidFill>
                <a:latin typeface="Sarabun"/>
              </a:defRPr>
            </a:pPr>
            <a:r>
              <a:t>🤖  Generative AI &amp; LLMs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Sarabun"/>
              </a:defRPr>
            </a:pPr>
            <a:r>
              <a:t>บูรณาการ Gemini API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นำ Large Language Models มาใช้วิเคราะห์ความต้องการแบบ Multi-turn Chatbot สนทนาถาม-ตอบ แนะนำติวเตอร์เสมือนมีที่ปรึกษาส่วนตัว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64592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4663440" cy="1783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2563EB"/>
                </a:solidFill>
                <a:latin typeface="Sarabun"/>
              </a:defRPr>
            </a:pPr>
            <a:r>
              <a:t>⚡  Enterprise Vector Search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Sarabun"/>
              </a:defRPr>
            </a:pPr>
            <a:r>
              <a:t>PostgreSQL + pgvector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ยกระดับสู่ Vector Database เช่น pgvector หรือ Qdrant เพื่อรองรับการค้นหา Semantic Match จากโปรไฟล์ติวเตอร์นับแสนรายในระดับเสี้ยววินาที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7764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977640"/>
            <a:ext cx="109728" cy="2057400"/>
          </a:xfrm>
          <a:prstGeom prst="round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60520"/>
            <a:ext cx="4663440" cy="1783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6C755"/>
                </a:solidFill>
                <a:latin typeface="Sarabun"/>
              </a:defRPr>
            </a:pPr>
            <a:r>
              <a:t>💳  Integrated Payment Gateway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Sarabun"/>
              </a:defRPr>
            </a:pPr>
            <a:r>
              <a:t>PromptPay QR &amp; LINE Pay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ระบบชำระค่าเรียนออนไลน์อัตโนมัติ พร้อมระบบ Escrow (พักเงินไว้จนกว่าจะเริ่มคลาสเรียน) เพื่อความปลอดภัยของทั้งสองฝ่าย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97764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3977640"/>
            <a:ext cx="109728" cy="20574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160520"/>
            <a:ext cx="4663440" cy="1783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D97706"/>
                </a:solidFill>
                <a:latin typeface="Sarabun"/>
              </a:defRPr>
            </a:pPr>
            <a:r>
              <a:t>📊  Learning Analytics Loop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Sarabun"/>
              </a:defRPr>
            </a:pPr>
            <a:r>
              <a:t>ระบบติดตามและวิเคราะห์ผล</a:t>
            </a:r>
          </a:p>
          <a:p>
            <a:pPr>
              <a:defRPr sz="1050">
                <a:solidFill>
                  <a:srgbClr val="475569"/>
                </a:solidFill>
                <a:latin typeface="Sarabun"/>
              </a:defRPr>
            </a:pPr>
            <a:r>
              <a:t>ระบบบันทึกพัฒนาการของผู้เรียนหลังจบคลาส และนำคะแนนรีวิวความพึงพอใจมาปรับค่าน้ำหนักของ Matching Algorithm โดยอัตโนมัติ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1371600"/>
            <a:ext cx="5486400" cy="5486400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EC4899"/>
                </a:solidFill>
                <a:latin typeface="Sarabun"/>
              </a:defRPr>
            </a:pPr>
            <a:r>
              <a:t>EXECUTIVE SUMMARY &amp; SYSTEM DEMONSTRATION</a:t>
            </a:r>
          </a:p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  <a:latin typeface="Sarabun"/>
              </a:defRPr>
            </a:pPr>
            <a:r>
              <a:t>บทสรุปโครงการ TutorMatch AI</a:t>
            </a:r>
          </a:p>
          <a:p>
            <a:pPr>
              <a:spcAft>
                <a:spcPts val="2400"/>
              </a:spcAft>
              <a:defRPr sz="1400">
                <a:solidFill>
                  <a:srgbClr val="CBD5E1"/>
                </a:solidFill>
                <a:latin typeface="Sarabun"/>
              </a:defRPr>
            </a:pPr>
            <a:r>
              <a:t>TutorMatch AI คือการผสานอย่างลงตัวระหว่าง 'ความสะดวกในการเข้าถึง (LINE Ecosystem)' + 'ความปลอดภัยขั้นสูงสุด (Face Biometrics)' + 'ความชาญฉลาดในการวิเคราะห์ (Thai NLP Semantic Matching)'</a:t>
            </a:r>
            <a:br/>
            <a:br/>
            <a:r>
              <a:t>ระบบได้รับการออกแบบและพัฒนาให้สามารถใช้งานได้จริง ครอบคลุมทั้งฝั่งผู้เรียนและผู้สอน พร้อมขับเคลื่อนการศึกษาพิเศษนอกห้องเรียนของไทยให้ก้าวสู่ยุค AI อย่างมั่นคง</a:t>
            </a:r>
          </a:p>
          <a:p>
            <a:pPr>
              <a:defRPr sz="1800" b="1">
                <a:solidFill>
                  <a:srgbClr val="A78BFA"/>
                </a:solidFill>
                <a:latin typeface="Sarabun"/>
              </a:defRPr>
            </a:pPr>
            <a:r>
              <a:t>🎉 ขอขอบพระคุณทุกท่าน  |  เข้าสู่ช่วงถาม-ตอบ (Q&amp;A Session)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